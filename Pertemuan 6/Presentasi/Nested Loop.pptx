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Jua" panose="020B0604020202020204" charset="-127"/>
      <p:regular r:id="rId17"/>
    </p:embeddedFont>
    <p:embeddedFont>
      <p:font typeface="Funtastic" panose="020B0604020202020204" charset="0"/>
      <p:regular r:id="rId18"/>
    </p:embeddedFont>
    <p:embeddedFont>
      <p:font typeface="Poppi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svg"/><Relationship Id="rId7"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svg"/><Relationship Id="rId7"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4.svg"/><Relationship Id="rId7"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26.svg"/><Relationship Id="rId10" Type="http://schemas.openxmlformats.org/officeDocument/2006/relationships/image" Target="../media/image27.png"/><Relationship Id="rId4" Type="http://schemas.openxmlformats.org/officeDocument/2006/relationships/image" Target="../media/image25.png"/><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svg"/><Relationship Id="rId7"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42.jpeg"/><Relationship Id="rId4" Type="http://schemas.openxmlformats.org/officeDocument/2006/relationships/image" Target="../media/image41.jpeg"/><Relationship Id="rId9"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sp>
        <p:nvSpPr>
          <p:cNvPr id="2" name="Freeform 2"/>
          <p:cNvSpPr/>
          <p:nvPr/>
        </p:nvSpPr>
        <p:spPr>
          <a:xfrm>
            <a:off x="4147522" y="-284738"/>
            <a:ext cx="10472547" cy="10420184"/>
          </a:xfrm>
          <a:custGeom>
            <a:avLst/>
            <a:gdLst/>
            <a:ahLst/>
            <a:cxnLst/>
            <a:rect l="l" t="t" r="r" b="b"/>
            <a:pathLst>
              <a:path w="10472547" h="10420184">
                <a:moveTo>
                  <a:pt x="0" y="0"/>
                </a:moveTo>
                <a:lnTo>
                  <a:pt x="10472547" y="0"/>
                </a:lnTo>
                <a:lnTo>
                  <a:pt x="10472547" y="10420185"/>
                </a:lnTo>
                <a:lnTo>
                  <a:pt x="0" y="10420185"/>
                </a:lnTo>
                <a:lnTo>
                  <a:pt x="0" y="0"/>
                </a:lnTo>
                <a:close/>
              </a:path>
            </a:pathLst>
          </a:custGeom>
          <a:blipFill>
            <a:blip r:embed="rId2">
              <a:alphaModFix amt="61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92693" y="-284738"/>
            <a:ext cx="21673387" cy="10856475"/>
            <a:chOff x="0" y="0"/>
            <a:chExt cx="28897849" cy="14475300"/>
          </a:xfrm>
        </p:grpSpPr>
        <p:sp>
          <p:nvSpPr>
            <p:cNvPr id="4" name="Freeform 4"/>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sp>
        <p:sp>
          <p:nvSpPr>
            <p:cNvPr id="5" name="Freeform 5"/>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sp>
      </p:grpSp>
      <p:sp>
        <p:nvSpPr>
          <p:cNvPr id="6" name="TextBox 6"/>
          <p:cNvSpPr txBox="1"/>
          <p:nvPr/>
        </p:nvSpPr>
        <p:spPr>
          <a:xfrm>
            <a:off x="2421838" y="2532009"/>
            <a:ext cx="13444324" cy="4503092"/>
          </a:xfrm>
          <a:prstGeom prst="rect">
            <a:avLst/>
          </a:prstGeom>
        </p:spPr>
        <p:txBody>
          <a:bodyPr lIns="0" tIns="0" rIns="0" bIns="0" rtlCol="0" anchor="t">
            <a:spAutoFit/>
          </a:bodyPr>
          <a:lstStyle/>
          <a:p>
            <a:pPr algn="ctr">
              <a:lnSpc>
                <a:spcPts val="17510"/>
              </a:lnSpc>
            </a:pPr>
            <a:r>
              <a:rPr lang="en-US" sz="22448" dirty="0">
                <a:solidFill>
                  <a:srgbClr val="FFFFFF"/>
                </a:solidFill>
                <a:effectLst>
                  <a:innerShdw blurRad="63500" dist="50800" dir="18900000">
                    <a:prstClr val="black">
                      <a:alpha val="50000"/>
                    </a:prstClr>
                  </a:innerShdw>
                </a:effectLst>
                <a:latin typeface="Funtastic"/>
                <a:ea typeface="Funtastic"/>
                <a:cs typeface="Funtastic"/>
                <a:sym typeface="Funtastic"/>
              </a:rPr>
              <a:t>NESTED LOOP</a:t>
            </a:r>
          </a:p>
        </p:txBody>
      </p:sp>
      <p:grpSp>
        <p:nvGrpSpPr>
          <p:cNvPr id="7" name="Group 7"/>
          <p:cNvGrpSpPr/>
          <p:nvPr/>
        </p:nvGrpSpPr>
        <p:grpSpPr>
          <a:xfrm>
            <a:off x="5499738" y="7494588"/>
            <a:ext cx="7288524" cy="993001"/>
            <a:chOff x="0" y="0"/>
            <a:chExt cx="1919611" cy="261531"/>
          </a:xfrm>
        </p:grpSpPr>
        <p:sp>
          <p:nvSpPr>
            <p:cNvPr id="8" name="Freeform 8"/>
            <p:cNvSpPr/>
            <p:nvPr/>
          </p:nvSpPr>
          <p:spPr>
            <a:xfrm>
              <a:off x="0" y="0"/>
              <a:ext cx="1919611" cy="261531"/>
            </a:xfrm>
            <a:custGeom>
              <a:avLst/>
              <a:gdLst/>
              <a:ahLst/>
              <a:cxnLst/>
              <a:rect l="l" t="t" r="r" b="b"/>
              <a:pathLst>
                <a:path w="1919611" h="261531">
                  <a:moveTo>
                    <a:pt x="54173" y="0"/>
                  </a:moveTo>
                  <a:lnTo>
                    <a:pt x="1865439" y="0"/>
                  </a:lnTo>
                  <a:cubicBezTo>
                    <a:pt x="1895357" y="0"/>
                    <a:pt x="1919611" y="24254"/>
                    <a:pt x="1919611" y="54173"/>
                  </a:cubicBezTo>
                  <a:lnTo>
                    <a:pt x="1919611" y="207358"/>
                  </a:lnTo>
                  <a:cubicBezTo>
                    <a:pt x="1919611" y="237277"/>
                    <a:pt x="1895357" y="261531"/>
                    <a:pt x="1865439" y="261531"/>
                  </a:cubicBezTo>
                  <a:lnTo>
                    <a:pt x="54173" y="261531"/>
                  </a:lnTo>
                  <a:cubicBezTo>
                    <a:pt x="24254" y="261531"/>
                    <a:pt x="0" y="237277"/>
                    <a:pt x="0" y="207358"/>
                  </a:cubicBezTo>
                  <a:lnTo>
                    <a:pt x="0" y="54173"/>
                  </a:lnTo>
                  <a:cubicBezTo>
                    <a:pt x="0" y="24254"/>
                    <a:pt x="24254" y="0"/>
                    <a:pt x="54173" y="0"/>
                  </a:cubicBezTo>
                  <a:close/>
                </a:path>
              </a:pathLst>
            </a:custGeom>
            <a:solidFill>
              <a:srgbClr val="77BFD7"/>
            </a:solidFill>
            <a:ln w="95250" cap="rnd">
              <a:solidFill>
                <a:srgbClr val="222222"/>
              </a:solidFill>
              <a:prstDash val="solid"/>
              <a:round/>
            </a:ln>
          </p:spPr>
        </p:sp>
        <p:sp>
          <p:nvSpPr>
            <p:cNvPr id="9" name="TextBox 9"/>
            <p:cNvSpPr txBox="1"/>
            <p:nvPr/>
          </p:nvSpPr>
          <p:spPr>
            <a:xfrm>
              <a:off x="0" y="-38100"/>
              <a:ext cx="1919611" cy="299631"/>
            </a:xfrm>
            <a:prstGeom prst="rect">
              <a:avLst/>
            </a:prstGeom>
          </p:spPr>
          <p:txBody>
            <a:bodyPr lIns="50800" tIns="50800" rIns="50800" bIns="50800" rtlCol="0" anchor="ctr"/>
            <a:lstStyle/>
            <a:p>
              <a:pPr algn="ctr">
                <a:lnSpc>
                  <a:spcPts val="2609"/>
                </a:lnSpc>
              </a:pPr>
              <a:endParaRPr/>
            </a:p>
          </p:txBody>
        </p:sp>
      </p:grpSp>
      <p:sp>
        <p:nvSpPr>
          <p:cNvPr id="10" name="TextBox 10"/>
          <p:cNvSpPr txBox="1"/>
          <p:nvPr/>
        </p:nvSpPr>
        <p:spPr>
          <a:xfrm>
            <a:off x="6295641" y="7670777"/>
            <a:ext cx="5696718" cy="592998"/>
          </a:xfrm>
          <a:prstGeom prst="rect">
            <a:avLst/>
          </a:prstGeom>
        </p:spPr>
        <p:txBody>
          <a:bodyPr lIns="0" tIns="0" rIns="0" bIns="0" rtlCol="0" anchor="t">
            <a:spAutoFit/>
          </a:bodyPr>
          <a:lstStyle/>
          <a:p>
            <a:pPr algn="ctr">
              <a:lnSpc>
                <a:spcPts val="3906"/>
              </a:lnSpc>
              <a:spcBef>
                <a:spcPct val="0"/>
              </a:spcBef>
            </a:pPr>
            <a:r>
              <a:rPr lang="en-US" sz="3584" spc="-71">
                <a:solidFill>
                  <a:srgbClr val="000000"/>
                </a:solidFill>
                <a:latin typeface="Jua"/>
                <a:ea typeface="Jua"/>
                <a:cs typeface="Jua"/>
                <a:sym typeface="Jua"/>
              </a:rPr>
              <a:t>Kelompok 4</a:t>
            </a:r>
          </a:p>
        </p:txBody>
      </p:sp>
      <p:sp>
        <p:nvSpPr>
          <p:cNvPr id="11" name="Freeform 11"/>
          <p:cNvSpPr/>
          <p:nvPr/>
        </p:nvSpPr>
        <p:spPr>
          <a:xfrm>
            <a:off x="7921261" y="8487589"/>
            <a:ext cx="2394886" cy="1647858"/>
          </a:xfrm>
          <a:custGeom>
            <a:avLst/>
            <a:gdLst/>
            <a:ahLst/>
            <a:cxnLst/>
            <a:rect l="l" t="t" r="r" b="b"/>
            <a:pathLst>
              <a:path w="2394886" h="1647858">
                <a:moveTo>
                  <a:pt x="0" y="0"/>
                </a:moveTo>
                <a:lnTo>
                  <a:pt x="2394886" y="0"/>
                </a:lnTo>
                <a:lnTo>
                  <a:pt x="2394886" y="1647858"/>
                </a:lnTo>
                <a:lnTo>
                  <a:pt x="0" y="1647858"/>
                </a:lnTo>
                <a:lnTo>
                  <a:pt x="0" y="0"/>
                </a:lnTo>
                <a:close/>
              </a:path>
            </a:pathLst>
          </a:custGeom>
          <a:blipFill>
            <a:blip r:embed="rId6"/>
            <a:stretch>
              <a:fillRect/>
            </a:stretch>
          </a:blipFill>
        </p:spPr>
      </p:sp>
      <p:sp>
        <p:nvSpPr>
          <p:cNvPr id="12" name="Freeform 12"/>
          <p:cNvSpPr/>
          <p:nvPr/>
        </p:nvSpPr>
        <p:spPr>
          <a:xfrm>
            <a:off x="1028700" y="550834"/>
            <a:ext cx="1029158" cy="1833926"/>
          </a:xfrm>
          <a:custGeom>
            <a:avLst/>
            <a:gdLst/>
            <a:ahLst/>
            <a:cxnLst/>
            <a:rect l="l" t="t" r="r" b="b"/>
            <a:pathLst>
              <a:path w="1029158" h="1833926">
                <a:moveTo>
                  <a:pt x="0" y="0"/>
                </a:moveTo>
                <a:lnTo>
                  <a:pt x="1029158" y="0"/>
                </a:lnTo>
                <a:lnTo>
                  <a:pt x="1029158" y="1833926"/>
                </a:lnTo>
                <a:lnTo>
                  <a:pt x="0" y="1833926"/>
                </a:lnTo>
                <a:lnTo>
                  <a:pt x="0" y="0"/>
                </a:lnTo>
                <a:close/>
              </a:path>
            </a:pathLst>
          </a:custGeom>
          <a:blipFill>
            <a:blip r:embed="rId7"/>
            <a:stretch>
              <a:fillRect l="-3839" t="-2995" r="-593"/>
            </a:stretch>
          </a:blipFill>
        </p:spPr>
      </p:sp>
      <p:sp>
        <p:nvSpPr>
          <p:cNvPr id="13" name="Freeform 13"/>
          <p:cNvSpPr/>
          <p:nvPr/>
        </p:nvSpPr>
        <p:spPr>
          <a:xfrm>
            <a:off x="15386647" y="748783"/>
            <a:ext cx="1872653" cy="1635977"/>
          </a:xfrm>
          <a:custGeom>
            <a:avLst/>
            <a:gdLst/>
            <a:ahLst/>
            <a:cxnLst/>
            <a:rect l="l" t="t" r="r" b="b"/>
            <a:pathLst>
              <a:path w="1872653" h="1635977">
                <a:moveTo>
                  <a:pt x="0" y="0"/>
                </a:moveTo>
                <a:lnTo>
                  <a:pt x="1872653" y="0"/>
                </a:lnTo>
                <a:lnTo>
                  <a:pt x="1872653" y="1635977"/>
                </a:lnTo>
                <a:lnTo>
                  <a:pt x="0" y="1635977"/>
                </a:lnTo>
                <a:lnTo>
                  <a:pt x="0" y="0"/>
                </a:lnTo>
                <a:close/>
              </a:path>
            </a:pathLst>
          </a:custGeom>
          <a:blipFill>
            <a:blip r:embed="rId8"/>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493126" y="4069863"/>
            <a:ext cx="2483565" cy="4359084"/>
            <a:chOff x="0" y="0"/>
            <a:chExt cx="654108" cy="1148071"/>
          </a:xfrm>
        </p:grpSpPr>
        <p:sp>
          <p:nvSpPr>
            <p:cNvPr id="3" name="Freeform 3"/>
            <p:cNvSpPr/>
            <p:nvPr/>
          </p:nvSpPr>
          <p:spPr>
            <a:xfrm>
              <a:off x="0" y="0"/>
              <a:ext cx="654108" cy="1148071"/>
            </a:xfrm>
            <a:custGeom>
              <a:avLst/>
              <a:gdLst/>
              <a:ahLst/>
              <a:cxnLst/>
              <a:rect l="l" t="t" r="r" b="b"/>
              <a:pathLst>
                <a:path w="654108" h="1148071">
                  <a:moveTo>
                    <a:pt x="0" y="0"/>
                  </a:moveTo>
                  <a:lnTo>
                    <a:pt x="654108" y="0"/>
                  </a:lnTo>
                  <a:lnTo>
                    <a:pt x="654108" y="1148071"/>
                  </a:lnTo>
                  <a:lnTo>
                    <a:pt x="0" y="1148071"/>
                  </a:lnTo>
                  <a:close/>
                </a:path>
              </a:pathLst>
            </a:custGeom>
            <a:solidFill>
              <a:srgbClr val="FCC8DB"/>
            </a:solidFill>
          </p:spPr>
        </p:sp>
        <p:sp>
          <p:nvSpPr>
            <p:cNvPr id="4" name="TextBox 4"/>
            <p:cNvSpPr txBox="1"/>
            <p:nvPr/>
          </p:nvSpPr>
          <p:spPr>
            <a:xfrm>
              <a:off x="0" y="-38100"/>
              <a:ext cx="654108" cy="1186171"/>
            </a:xfrm>
            <a:prstGeom prst="rect">
              <a:avLst/>
            </a:prstGeom>
          </p:spPr>
          <p:txBody>
            <a:bodyPr lIns="50800" tIns="50800" rIns="50800" bIns="50800" rtlCol="0" anchor="ctr"/>
            <a:lstStyle/>
            <a:p>
              <a:pPr algn="ctr">
                <a:lnSpc>
                  <a:spcPts val="2609"/>
                </a:lnSpc>
              </a:pPr>
              <a:endParaRPr/>
            </a:p>
          </p:txBody>
        </p:sp>
      </p:grpSp>
      <p:grpSp>
        <p:nvGrpSpPr>
          <p:cNvPr id="5" name="Group 5"/>
          <p:cNvGrpSpPr/>
          <p:nvPr/>
        </p:nvGrpSpPr>
        <p:grpSpPr>
          <a:xfrm>
            <a:off x="14174297" y="4069863"/>
            <a:ext cx="2424699" cy="4359084"/>
            <a:chOff x="0" y="0"/>
            <a:chExt cx="638604" cy="1148071"/>
          </a:xfrm>
        </p:grpSpPr>
        <p:sp>
          <p:nvSpPr>
            <p:cNvPr id="6" name="Freeform 6"/>
            <p:cNvSpPr/>
            <p:nvPr/>
          </p:nvSpPr>
          <p:spPr>
            <a:xfrm>
              <a:off x="0" y="0"/>
              <a:ext cx="638604" cy="1148071"/>
            </a:xfrm>
            <a:custGeom>
              <a:avLst/>
              <a:gdLst/>
              <a:ahLst/>
              <a:cxnLst/>
              <a:rect l="l" t="t" r="r" b="b"/>
              <a:pathLst>
                <a:path w="638604" h="1148071">
                  <a:moveTo>
                    <a:pt x="0" y="0"/>
                  </a:moveTo>
                  <a:lnTo>
                    <a:pt x="638604" y="0"/>
                  </a:lnTo>
                  <a:lnTo>
                    <a:pt x="638604" y="1148071"/>
                  </a:lnTo>
                  <a:lnTo>
                    <a:pt x="0" y="1148071"/>
                  </a:lnTo>
                  <a:close/>
                </a:path>
              </a:pathLst>
            </a:custGeom>
            <a:solidFill>
              <a:srgbClr val="7BD6F1"/>
            </a:solidFill>
          </p:spPr>
        </p:sp>
        <p:sp>
          <p:nvSpPr>
            <p:cNvPr id="7" name="TextBox 7"/>
            <p:cNvSpPr txBox="1"/>
            <p:nvPr/>
          </p:nvSpPr>
          <p:spPr>
            <a:xfrm>
              <a:off x="0" y="-38100"/>
              <a:ext cx="638604" cy="1186171"/>
            </a:xfrm>
            <a:prstGeom prst="rect">
              <a:avLst/>
            </a:prstGeom>
          </p:spPr>
          <p:txBody>
            <a:bodyPr lIns="50800" tIns="50800" rIns="50800" bIns="50800" rtlCol="0" anchor="ctr"/>
            <a:lstStyle/>
            <a:p>
              <a:pPr algn="ctr">
                <a:lnSpc>
                  <a:spcPts val="2609"/>
                </a:lnSpc>
              </a:pPr>
              <a:endParaRPr/>
            </a:p>
          </p:txBody>
        </p:sp>
      </p:grpSp>
      <p:grpSp>
        <p:nvGrpSpPr>
          <p:cNvPr id="8" name="Group 8"/>
          <p:cNvGrpSpPr/>
          <p:nvPr/>
        </p:nvGrpSpPr>
        <p:grpSpPr>
          <a:xfrm>
            <a:off x="6832491" y="5468839"/>
            <a:ext cx="5049571" cy="3789461"/>
            <a:chOff x="0" y="0"/>
            <a:chExt cx="1329928" cy="998047"/>
          </a:xfrm>
        </p:grpSpPr>
        <p:sp>
          <p:nvSpPr>
            <p:cNvPr id="9" name="Freeform 9"/>
            <p:cNvSpPr/>
            <p:nvPr/>
          </p:nvSpPr>
          <p:spPr>
            <a:xfrm>
              <a:off x="0" y="0"/>
              <a:ext cx="1329928" cy="998047"/>
            </a:xfrm>
            <a:custGeom>
              <a:avLst/>
              <a:gdLst/>
              <a:ahLst/>
              <a:cxnLst/>
              <a:rect l="l" t="t" r="r" b="b"/>
              <a:pathLst>
                <a:path w="1329928" h="998047">
                  <a:moveTo>
                    <a:pt x="0" y="0"/>
                  </a:moveTo>
                  <a:lnTo>
                    <a:pt x="1329928" y="0"/>
                  </a:lnTo>
                  <a:lnTo>
                    <a:pt x="1329928" y="998047"/>
                  </a:lnTo>
                  <a:lnTo>
                    <a:pt x="0" y="998047"/>
                  </a:lnTo>
                  <a:close/>
                </a:path>
              </a:pathLst>
            </a:custGeom>
            <a:solidFill>
              <a:srgbClr val="9FDA5E"/>
            </a:solidFill>
          </p:spPr>
        </p:sp>
        <p:sp>
          <p:nvSpPr>
            <p:cNvPr id="10" name="TextBox 10"/>
            <p:cNvSpPr txBox="1"/>
            <p:nvPr/>
          </p:nvSpPr>
          <p:spPr>
            <a:xfrm>
              <a:off x="0" y="-38100"/>
              <a:ext cx="1329928" cy="1036147"/>
            </a:xfrm>
            <a:prstGeom prst="rect">
              <a:avLst/>
            </a:prstGeom>
          </p:spPr>
          <p:txBody>
            <a:bodyPr lIns="50800" tIns="50800" rIns="50800" bIns="50800" rtlCol="0" anchor="ctr"/>
            <a:lstStyle/>
            <a:p>
              <a:pPr algn="ctr">
                <a:lnSpc>
                  <a:spcPts val="2609"/>
                </a:lnSpc>
              </a:pPr>
              <a:endParaRPr/>
            </a:p>
          </p:txBody>
        </p:sp>
      </p:grpSp>
      <p:grpSp>
        <p:nvGrpSpPr>
          <p:cNvPr id="11" name="Group 11"/>
          <p:cNvGrpSpPr/>
          <p:nvPr/>
        </p:nvGrpSpPr>
        <p:grpSpPr>
          <a:xfrm>
            <a:off x="10078668" y="5307489"/>
            <a:ext cx="2096997" cy="934454"/>
            <a:chOff x="0" y="0"/>
            <a:chExt cx="552296" cy="246111"/>
          </a:xfrm>
        </p:grpSpPr>
        <p:sp>
          <p:nvSpPr>
            <p:cNvPr id="12" name="Freeform 12"/>
            <p:cNvSpPr/>
            <p:nvPr/>
          </p:nvSpPr>
          <p:spPr>
            <a:xfrm>
              <a:off x="0" y="0"/>
              <a:ext cx="552296" cy="246111"/>
            </a:xfrm>
            <a:custGeom>
              <a:avLst/>
              <a:gdLst/>
              <a:ahLst/>
              <a:cxnLst/>
              <a:rect l="l" t="t" r="r" b="b"/>
              <a:pathLst>
                <a:path w="552296" h="246111">
                  <a:moveTo>
                    <a:pt x="0" y="0"/>
                  </a:moveTo>
                  <a:lnTo>
                    <a:pt x="552296" y="0"/>
                  </a:lnTo>
                  <a:lnTo>
                    <a:pt x="552296" y="246111"/>
                  </a:lnTo>
                  <a:lnTo>
                    <a:pt x="0" y="246111"/>
                  </a:lnTo>
                  <a:close/>
                </a:path>
              </a:pathLst>
            </a:custGeom>
            <a:solidFill>
              <a:srgbClr val="FFF1DB"/>
            </a:solidFill>
          </p:spPr>
        </p:sp>
        <p:sp>
          <p:nvSpPr>
            <p:cNvPr id="13" name="TextBox 13"/>
            <p:cNvSpPr txBox="1"/>
            <p:nvPr/>
          </p:nvSpPr>
          <p:spPr>
            <a:xfrm>
              <a:off x="0" y="-38100"/>
              <a:ext cx="552296" cy="284211"/>
            </a:xfrm>
            <a:prstGeom prst="rect">
              <a:avLst/>
            </a:prstGeom>
          </p:spPr>
          <p:txBody>
            <a:bodyPr lIns="50800" tIns="50800" rIns="50800" bIns="50800" rtlCol="0" anchor="ctr"/>
            <a:lstStyle/>
            <a:p>
              <a:pPr algn="ctr">
                <a:lnSpc>
                  <a:spcPts val="2609"/>
                </a:lnSpc>
              </a:pPr>
              <a:endParaRPr/>
            </a:p>
          </p:txBody>
        </p:sp>
      </p:grpSp>
      <p:grpSp>
        <p:nvGrpSpPr>
          <p:cNvPr id="14" name="Group 14"/>
          <p:cNvGrpSpPr/>
          <p:nvPr/>
        </p:nvGrpSpPr>
        <p:grpSpPr>
          <a:xfrm>
            <a:off x="-1692693" y="-284738"/>
            <a:ext cx="21673387" cy="10856475"/>
            <a:chOff x="0" y="0"/>
            <a:chExt cx="28897849" cy="14475300"/>
          </a:xfrm>
        </p:grpSpPr>
        <p:sp>
          <p:nvSpPr>
            <p:cNvPr id="15" name="Freeform 15"/>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16" name="Freeform 16"/>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17" name="Freeform 17"/>
          <p:cNvSpPr/>
          <p:nvPr/>
        </p:nvSpPr>
        <p:spPr>
          <a:xfrm>
            <a:off x="6293939" y="179059"/>
            <a:ext cx="5700121" cy="3249069"/>
          </a:xfrm>
          <a:custGeom>
            <a:avLst/>
            <a:gdLst/>
            <a:ahLst/>
            <a:cxnLst/>
            <a:rect l="l" t="t" r="r" b="b"/>
            <a:pathLst>
              <a:path w="5700121" h="3249069">
                <a:moveTo>
                  <a:pt x="0" y="0"/>
                </a:moveTo>
                <a:lnTo>
                  <a:pt x="5700122" y="0"/>
                </a:lnTo>
                <a:lnTo>
                  <a:pt x="5700122" y="3249069"/>
                </a:lnTo>
                <a:lnTo>
                  <a:pt x="0" y="32490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028700" y="614313"/>
            <a:ext cx="3158099" cy="5627630"/>
          </a:xfrm>
          <a:custGeom>
            <a:avLst/>
            <a:gdLst/>
            <a:ahLst/>
            <a:cxnLst/>
            <a:rect l="l" t="t" r="r" b="b"/>
            <a:pathLst>
              <a:path w="3158099" h="5627630">
                <a:moveTo>
                  <a:pt x="0" y="0"/>
                </a:moveTo>
                <a:lnTo>
                  <a:pt x="3158099" y="0"/>
                </a:lnTo>
                <a:lnTo>
                  <a:pt x="3158099" y="5627630"/>
                </a:lnTo>
                <a:lnTo>
                  <a:pt x="0" y="5627630"/>
                </a:lnTo>
                <a:lnTo>
                  <a:pt x="0" y="0"/>
                </a:lnTo>
                <a:close/>
              </a:path>
            </a:pathLst>
          </a:custGeom>
          <a:blipFill>
            <a:blip r:embed="rId6"/>
            <a:stretch>
              <a:fillRect l="-3839" t="-2995" r="-593"/>
            </a:stretch>
          </a:blipFill>
        </p:spPr>
      </p:sp>
      <p:sp>
        <p:nvSpPr>
          <p:cNvPr id="19" name="Freeform 19"/>
          <p:cNvSpPr/>
          <p:nvPr/>
        </p:nvSpPr>
        <p:spPr>
          <a:xfrm>
            <a:off x="13513993" y="2196886"/>
            <a:ext cx="3961411" cy="3460745"/>
          </a:xfrm>
          <a:custGeom>
            <a:avLst/>
            <a:gdLst/>
            <a:ahLst/>
            <a:cxnLst/>
            <a:rect l="l" t="t" r="r" b="b"/>
            <a:pathLst>
              <a:path w="3961411" h="3460745">
                <a:moveTo>
                  <a:pt x="0" y="0"/>
                </a:moveTo>
                <a:lnTo>
                  <a:pt x="3961411" y="0"/>
                </a:lnTo>
                <a:lnTo>
                  <a:pt x="3961411" y="3460745"/>
                </a:lnTo>
                <a:lnTo>
                  <a:pt x="0" y="3460745"/>
                </a:lnTo>
                <a:lnTo>
                  <a:pt x="0" y="0"/>
                </a:lnTo>
                <a:close/>
              </a:path>
            </a:pathLst>
          </a:custGeom>
          <a:blipFill>
            <a:blip r:embed="rId7"/>
            <a:stretch>
              <a:fillRect/>
            </a:stretch>
          </a:blipFill>
        </p:spPr>
      </p:sp>
      <p:sp>
        <p:nvSpPr>
          <p:cNvPr id="20" name="Freeform 20"/>
          <p:cNvSpPr/>
          <p:nvPr/>
        </p:nvSpPr>
        <p:spPr>
          <a:xfrm>
            <a:off x="5683338" y="2964331"/>
            <a:ext cx="6334117" cy="4358337"/>
          </a:xfrm>
          <a:custGeom>
            <a:avLst/>
            <a:gdLst/>
            <a:ahLst/>
            <a:cxnLst/>
            <a:rect l="l" t="t" r="r" b="b"/>
            <a:pathLst>
              <a:path w="6334117" h="4358337">
                <a:moveTo>
                  <a:pt x="0" y="0"/>
                </a:moveTo>
                <a:lnTo>
                  <a:pt x="6334117" y="0"/>
                </a:lnTo>
                <a:lnTo>
                  <a:pt x="6334117" y="4358338"/>
                </a:lnTo>
                <a:lnTo>
                  <a:pt x="0" y="4358338"/>
                </a:lnTo>
                <a:lnTo>
                  <a:pt x="0" y="0"/>
                </a:lnTo>
                <a:close/>
              </a:path>
            </a:pathLst>
          </a:custGeom>
          <a:blipFill>
            <a:blip r:embed="rId8"/>
            <a:stretch>
              <a:fillRect/>
            </a:stretch>
          </a:blipFill>
        </p:spPr>
      </p:sp>
      <p:sp>
        <p:nvSpPr>
          <p:cNvPr id="21" name="TextBox 21"/>
          <p:cNvSpPr txBox="1"/>
          <p:nvPr/>
        </p:nvSpPr>
        <p:spPr>
          <a:xfrm>
            <a:off x="1555353" y="6443194"/>
            <a:ext cx="2359113" cy="879475"/>
          </a:xfrm>
          <a:prstGeom prst="rect">
            <a:avLst/>
          </a:prstGeom>
        </p:spPr>
        <p:txBody>
          <a:bodyPr lIns="0" tIns="0" rIns="0" bIns="0" rtlCol="0" anchor="t">
            <a:spAutoFit/>
          </a:bodyPr>
          <a:lstStyle/>
          <a:p>
            <a:pPr algn="ctr">
              <a:lnSpc>
                <a:spcPts val="3499"/>
              </a:lnSpc>
            </a:pPr>
            <a:r>
              <a:rPr lang="en-US" sz="2499" b="1" spc="-49">
                <a:solidFill>
                  <a:srgbClr val="000000"/>
                </a:solidFill>
                <a:latin typeface="Poppins Bold"/>
                <a:ea typeface="Poppins Bold"/>
                <a:cs typeface="Poppins Bold"/>
                <a:sym typeface="Poppins Bold"/>
              </a:rPr>
              <a:t>Azzaina Salwa Zaafiroh </a:t>
            </a:r>
          </a:p>
        </p:txBody>
      </p:sp>
      <p:sp>
        <p:nvSpPr>
          <p:cNvPr id="22" name="TextBox 22"/>
          <p:cNvSpPr txBox="1"/>
          <p:nvPr/>
        </p:nvSpPr>
        <p:spPr>
          <a:xfrm>
            <a:off x="1608108" y="7436594"/>
            <a:ext cx="2250789" cy="441325"/>
          </a:xfrm>
          <a:prstGeom prst="rect">
            <a:avLst/>
          </a:prstGeom>
        </p:spPr>
        <p:txBody>
          <a:bodyPr lIns="0" tIns="0" rIns="0" bIns="0" rtlCol="0" anchor="t">
            <a:spAutoFit/>
          </a:bodyPr>
          <a:lstStyle/>
          <a:p>
            <a:pPr algn="ctr">
              <a:lnSpc>
                <a:spcPts val="3499"/>
              </a:lnSpc>
            </a:pPr>
            <a:r>
              <a:rPr lang="en-US" sz="2499" b="1" spc="-49">
                <a:solidFill>
                  <a:srgbClr val="000000"/>
                </a:solidFill>
                <a:latin typeface="Poppins Bold"/>
                <a:ea typeface="Poppins Bold"/>
                <a:cs typeface="Poppins Bold"/>
                <a:sym typeface="Poppins Bold"/>
              </a:rPr>
              <a:t>202613010003</a:t>
            </a:r>
          </a:p>
        </p:txBody>
      </p:sp>
      <p:grpSp>
        <p:nvGrpSpPr>
          <p:cNvPr id="23" name="Group 23"/>
          <p:cNvGrpSpPr/>
          <p:nvPr/>
        </p:nvGrpSpPr>
        <p:grpSpPr>
          <a:xfrm>
            <a:off x="7547441" y="7690594"/>
            <a:ext cx="3579726" cy="1095375"/>
            <a:chOff x="0" y="0"/>
            <a:chExt cx="4772968" cy="1460501"/>
          </a:xfrm>
        </p:grpSpPr>
        <p:sp>
          <p:nvSpPr>
            <p:cNvPr id="24" name="TextBox 24"/>
            <p:cNvSpPr txBox="1"/>
            <p:nvPr/>
          </p:nvSpPr>
          <p:spPr>
            <a:xfrm>
              <a:off x="0" y="-76200"/>
              <a:ext cx="4772968" cy="673100"/>
            </a:xfrm>
            <a:prstGeom prst="rect">
              <a:avLst/>
            </a:prstGeom>
          </p:spPr>
          <p:txBody>
            <a:bodyPr lIns="0" tIns="0" rIns="0" bIns="0" rtlCol="0" anchor="t">
              <a:spAutoFit/>
            </a:bodyPr>
            <a:lstStyle/>
            <a:p>
              <a:pPr algn="ctr">
                <a:lnSpc>
                  <a:spcPts val="4199"/>
                </a:lnSpc>
              </a:pPr>
              <a:r>
                <a:rPr lang="en-US" sz="2999" b="1" spc="-59">
                  <a:solidFill>
                    <a:srgbClr val="000000"/>
                  </a:solidFill>
                  <a:latin typeface="Poppins Bold"/>
                  <a:ea typeface="Poppins Bold"/>
                  <a:cs typeface="Poppins Bold"/>
                  <a:sym typeface="Poppins Bold"/>
                </a:rPr>
                <a:t>Djovita Asmara </a:t>
              </a:r>
            </a:p>
          </p:txBody>
        </p:sp>
        <p:sp>
          <p:nvSpPr>
            <p:cNvPr id="25" name="TextBox 25"/>
            <p:cNvSpPr txBox="1"/>
            <p:nvPr/>
          </p:nvSpPr>
          <p:spPr>
            <a:xfrm>
              <a:off x="0" y="787400"/>
              <a:ext cx="4772968" cy="673100"/>
            </a:xfrm>
            <a:prstGeom prst="rect">
              <a:avLst/>
            </a:prstGeom>
          </p:spPr>
          <p:txBody>
            <a:bodyPr lIns="0" tIns="0" rIns="0" bIns="0" rtlCol="0" anchor="t">
              <a:spAutoFit/>
            </a:bodyPr>
            <a:lstStyle/>
            <a:p>
              <a:pPr algn="ctr">
                <a:lnSpc>
                  <a:spcPts val="4199"/>
                </a:lnSpc>
              </a:pPr>
              <a:r>
                <a:rPr lang="en-US" sz="2999" b="1" spc="-59">
                  <a:solidFill>
                    <a:srgbClr val="000000"/>
                  </a:solidFill>
                  <a:latin typeface="Poppins Bold"/>
                  <a:ea typeface="Poppins Bold"/>
                  <a:cs typeface="Poppins Bold"/>
                  <a:sym typeface="Poppins Bold"/>
                </a:rPr>
                <a:t>202613010006</a:t>
              </a:r>
            </a:p>
          </p:txBody>
        </p:sp>
      </p:grpSp>
      <p:sp>
        <p:nvSpPr>
          <p:cNvPr id="26" name="TextBox 26"/>
          <p:cNvSpPr txBox="1"/>
          <p:nvPr/>
        </p:nvSpPr>
        <p:spPr>
          <a:xfrm>
            <a:off x="14174297" y="6443194"/>
            <a:ext cx="2424699" cy="879475"/>
          </a:xfrm>
          <a:prstGeom prst="rect">
            <a:avLst/>
          </a:prstGeom>
        </p:spPr>
        <p:txBody>
          <a:bodyPr lIns="0" tIns="0" rIns="0" bIns="0" rtlCol="0" anchor="t">
            <a:spAutoFit/>
          </a:bodyPr>
          <a:lstStyle/>
          <a:p>
            <a:pPr algn="ctr">
              <a:lnSpc>
                <a:spcPts val="3499"/>
              </a:lnSpc>
            </a:pPr>
            <a:r>
              <a:rPr lang="en-US" sz="2499" b="1" spc="-49">
                <a:solidFill>
                  <a:srgbClr val="000000"/>
                </a:solidFill>
                <a:latin typeface="Poppins Bold"/>
                <a:ea typeface="Poppins Bold"/>
                <a:cs typeface="Poppins Bold"/>
                <a:sym typeface="Poppins Bold"/>
              </a:rPr>
              <a:t>Mutiara </a:t>
            </a:r>
          </a:p>
          <a:p>
            <a:pPr algn="ctr">
              <a:lnSpc>
                <a:spcPts val="3499"/>
              </a:lnSpc>
            </a:pPr>
            <a:r>
              <a:rPr lang="en-US" sz="2499" b="1" spc="-49">
                <a:solidFill>
                  <a:srgbClr val="000000"/>
                </a:solidFill>
                <a:latin typeface="Poppins Bold"/>
                <a:ea typeface="Poppins Bold"/>
                <a:cs typeface="Poppins Bold"/>
                <a:sym typeface="Poppins Bold"/>
              </a:rPr>
              <a:t>Meyzhida Y. </a:t>
            </a:r>
          </a:p>
        </p:txBody>
      </p:sp>
      <p:sp>
        <p:nvSpPr>
          <p:cNvPr id="27" name="TextBox 27"/>
          <p:cNvSpPr txBox="1"/>
          <p:nvPr/>
        </p:nvSpPr>
        <p:spPr>
          <a:xfrm>
            <a:off x="14303139" y="7436594"/>
            <a:ext cx="2167015" cy="441325"/>
          </a:xfrm>
          <a:prstGeom prst="rect">
            <a:avLst/>
          </a:prstGeom>
        </p:spPr>
        <p:txBody>
          <a:bodyPr lIns="0" tIns="0" rIns="0" bIns="0" rtlCol="0" anchor="t">
            <a:spAutoFit/>
          </a:bodyPr>
          <a:lstStyle/>
          <a:p>
            <a:pPr algn="ctr">
              <a:lnSpc>
                <a:spcPts val="3499"/>
              </a:lnSpc>
            </a:pPr>
            <a:r>
              <a:rPr lang="en-US" sz="2499" b="1" spc="-49">
                <a:solidFill>
                  <a:srgbClr val="000000"/>
                </a:solidFill>
                <a:latin typeface="Poppins Bold"/>
                <a:ea typeface="Poppins Bold"/>
                <a:cs typeface="Poppins Bold"/>
                <a:sym typeface="Poppins Bold"/>
              </a:rPr>
              <a:t>202613010013</a:t>
            </a:r>
          </a:p>
        </p:txBody>
      </p:sp>
      <p:grpSp>
        <p:nvGrpSpPr>
          <p:cNvPr id="28" name="Group 28"/>
          <p:cNvGrpSpPr/>
          <p:nvPr/>
        </p:nvGrpSpPr>
        <p:grpSpPr>
          <a:xfrm>
            <a:off x="1493126" y="8428947"/>
            <a:ext cx="2483565" cy="1853712"/>
            <a:chOff x="0" y="0"/>
            <a:chExt cx="654108" cy="488221"/>
          </a:xfrm>
        </p:grpSpPr>
        <p:sp>
          <p:nvSpPr>
            <p:cNvPr id="29" name="Freeform 29"/>
            <p:cNvSpPr/>
            <p:nvPr/>
          </p:nvSpPr>
          <p:spPr>
            <a:xfrm>
              <a:off x="0" y="0"/>
              <a:ext cx="654108" cy="488221"/>
            </a:xfrm>
            <a:custGeom>
              <a:avLst/>
              <a:gdLst/>
              <a:ahLst/>
              <a:cxnLst/>
              <a:rect l="l" t="t" r="r" b="b"/>
              <a:pathLst>
                <a:path w="654108" h="488221">
                  <a:moveTo>
                    <a:pt x="0" y="0"/>
                  </a:moveTo>
                  <a:lnTo>
                    <a:pt x="654108" y="0"/>
                  </a:lnTo>
                  <a:lnTo>
                    <a:pt x="654108" y="488221"/>
                  </a:lnTo>
                  <a:lnTo>
                    <a:pt x="0" y="488221"/>
                  </a:lnTo>
                  <a:close/>
                </a:path>
              </a:pathLst>
            </a:custGeom>
            <a:gradFill rotWithShape="1">
              <a:gsLst>
                <a:gs pos="0">
                  <a:srgbClr val="FCC8DB">
                    <a:alpha val="66000"/>
                  </a:srgbClr>
                </a:gs>
                <a:gs pos="100000">
                  <a:srgbClr val="FCC8DB">
                    <a:alpha val="0"/>
                  </a:srgbClr>
                </a:gs>
              </a:gsLst>
              <a:lin ang="5400000"/>
            </a:gradFill>
          </p:spPr>
        </p:sp>
        <p:sp>
          <p:nvSpPr>
            <p:cNvPr id="30" name="TextBox 30"/>
            <p:cNvSpPr txBox="1"/>
            <p:nvPr/>
          </p:nvSpPr>
          <p:spPr>
            <a:xfrm>
              <a:off x="0" y="-38100"/>
              <a:ext cx="654108" cy="526321"/>
            </a:xfrm>
            <a:prstGeom prst="rect">
              <a:avLst/>
            </a:prstGeom>
          </p:spPr>
          <p:txBody>
            <a:bodyPr lIns="50800" tIns="50800" rIns="50800" bIns="50800" rtlCol="0" anchor="ctr"/>
            <a:lstStyle/>
            <a:p>
              <a:pPr algn="ctr">
                <a:lnSpc>
                  <a:spcPts val="2609"/>
                </a:lnSpc>
              </a:pPr>
              <a:endParaRPr/>
            </a:p>
          </p:txBody>
        </p:sp>
      </p:grpSp>
      <p:grpSp>
        <p:nvGrpSpPr>
          <p:cNvPr id="31" name="Group 31"/>
          <p:cNvGrpSpPr/>
          <p:nvPr/>
        </p:nvGrpSpPr>
        <p:grpSpPr>
          <a:xfrm>
            <a:off x="14174297" y="8428947"/>
            <a:ext cx="2424699" cy="1853712"/>
            <a:chOff x="0" y="0"/>
            <a:chExt cx="638604" cy="488221"/>
          </a:xfrm>
        </p:grpSpPr>
        <p:sp>
          <p:nvSpPr>
            <p:cNvPr id="32" name="Freeform 32"/>
            <p:cNvSpPr/>
            <p:nvPr/>
          </p:nvSpPr>
          <p:spPr>
            <a:xfrm>
              <a:off x="0" y="0"/>
              <a:ext cx="638604" cy="488221"/>
            </a:xfrm>
            <a:custGeom>
              <a:avLst/>
              <a:gdLst/>
              <a:ahLst/>
              <a:cxnLst/>
              <a:rect l="l" t="t" r="r" b="b"/>
              <a:pathLst>
                <a:path w="638604" h="488221">
                  <a:moveTo>
                    <a:pt x="0" y="0"/>
                  </a:moveTo>
                  <a:lnTo>
                    <a:pt x="638604" y="0"/>
                  </a:lnTo>
                  <a:lnTo>
                    <a:pt x="638604" y="488221"/>
                  </a:lnTo>
                  <a:lnTo>
                    <a:pt x="0" y="488221"/>
                  </a:lnTo>
                  <a:close/>
                </a:path>
              </a:pathLst>
            </a:custGeom>
            <a:gradFill rotWithShape="1">
              <a:gsLst>
                <a:gs pos="0">
                  <a:srgbClr val="7BD6F1">
                    <a:alpha val="66000"/>
                  </a:srgbClr>
                </a:gs>
                <a:gs pos="100000">
                  <a:srgbClr val="FCC8DB">
                    <a:alpha val="0"/>
                  </a:srgbClr>
                </a:gs>
              </a:gsLst>
              <a:lin ang="5400000"/>
            </a:gradFill>
          </p:spPr>
        </p:sp>
        <p:sp>
          <p:nvSpPr>
            <p:cNvPr id="33" name="TextBox 33"/>
            <p:cNvSpPr txBox="1"/>
            <p:nvPr/>
          </p:nvSpPr>
          <p:spPr>
            <a:xfrm>
              <a:off x="0" y="-38100"/>
              <a:ext cx="638604" cy="526321"/>
            </a:xfrm>
            <a:prstGeom prst="rect">
              <a:avLst/>
            </a:prstGeom>
          </p:spPr>
          <p:txBody>
            <a:bodyPr lIns="50800" tIns="50800" rIns="50800" bIns="50800" rtlCol="0" anchor="ctr"/>
            <a:lstStyle/>
            <a:p>
              <a:pPr algn="ctr">
                <a:lnSpc>
                  <a:spcPts val="2609"/>
                </a:lnSpc>
              </a:pPr>
              <a:endParaRPr/>
            </a:p>
          </p:txBody>
        </p:sp>
      </p:grpSp>
      <p:grpSp>
        <p:nvGrpSpPr>
          <p:cNvPr id="34" name="Group 34"/>
          <p:cNvGrpSpPr/>
          <p:nvPr/>
        </p:nvGrpSpPr>
        <p:grpSpPr>
          <a:xfrm>
            <a:off x="6832491" y="9258300"/>
            <a:ext cx="5049571" cy="1024359"/>
            <a:chOff x="0" y="0"/>
            <a:chExt cx="1329928" cy="269790"/>
          </a:xfrm>
        </p:grpSpPr>
        <p:sp>
          <p:nvSpPr>
            <p:cNvPr id="35" name="Freeform 35"/>
            <p:cNvSpPr/>
            <p:nvPr/>
          </p:nvSpPr>
          <p:spPr>
            <a:xfrm>
              <a:off x="0" y="0"/>
              <a:ext cx="1329928" cy="269790"/>
            </a:xfrm>
            <a:custGeom>
              <a:avLst/>
              <a:gdLst/>
              <a:ahLst/>
              <a:cxnLst/>
              <a:rect l="l" t="t" r="r" b="b"/>
              <a:pathLst>
                <a:path w="1329928" h="269790">
                  <a:moveTo>
                    <a:pt x="0" y="0"/>
                  </a:moveTo>
                  <a:lnTo>
                    <a:pt x="1329928" y="0"/>
                  </a:lnTo>
                  <a:lnTo>
                    <a:pt x="1329928" y="269790"/>
                  </a:lnTo>
                  <a:lnTo>
                    <a:pt x="0" y="269790"/>
                  </a:lnTo>
                  <a:close/>
                </a:path>
              </a:pathLst>
            </a:custGeom>
            <a:gradFill rotWithShape="1">
              <a:gsLst>
                <a:gs pos="0">
                  <a:srgbClr val="9FDA5E">
                    <a:alpha val="66000"/>
                  </a:srgbClr>
                </a:gs>
                <a:gs pos="100000">
                  <a:srgbClr val="FCC8DB">
                    <a:alpha val="0"/>
                  </a:srgbClr>
                </a:gs>
              </a:gsLst>
              <a:lin ang="5400000"/>
            </a:gradFill>
          </p:spPr>
        </p:sp>
        <p:sp>
          <p:nvSpPr>
            <p:cNvPr id="36" name="TextBox 36"/>
            <p:cNvSpPr txBox="1"/>
            <p:nvPr/>
          </p:nvSpPr>
          <p:spPr>
            <a:xfrm>
              <a:off x="0" y="-38100"/>
              <a:ext cx="1329928" cy="307890"/>
            </a:xfrm>
            <a:prstGeom prst="rect">
              <a:avLst/>
            </a:prstGeom>
          </p:spPr>
          <p:txBody>
            <a:bodyPr lIns="50800" tIns="50800" rIns="50800" bIns="50800" rtlCol="0" anchor="ctr"/>
            <a:lstStyle/>
            <a:p>
              <a:pPr algn="ctr">
                <a:lnSpc>
                  <a:spcPts val="2609"/>
                </a:lnSpc>
              </a:pPr>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TextBox 5"/>
          <p:cNvSpPr txBox="1"/>
          <p:nvPr/>
        </p:nvSpPr>
        <p:spPr>
          <a:xfrm>
            <a:off x="646313" y="1523123"/>
            <a:ext cx="17058160" cy="1160574"/>
          </a:xfrm>
          <a:prstGeom prst="rect">
            <a:avLst/>
          </a:prstGeom>
        </p:spPr>
        <p:txBody>
          <a:bodyPr lIns="0" tIns="0" rIns="0" bIns="0" rtlCol="0" anchor="t">
            <a:spAutoFit/>
          </a:bodyPr>
          <a:lstStyle/>
          <a:p>
            <a:pPr algn="ctr">
              <a:lnSpc>
                <a:spcPts val="8969"/>
              </a:lnSpc>
            </a:pPr>
            <a:r>
              <a:rPr lang="en-US" sz="11499" dirty="0">
                <a:solidFill>
                  <a:srgbClr val="FFFFFF"/>
                </a:solidFill>
                <a:effectLst>
                  <a:innerShdw blurRad="63500" dist="50800" dir="10800000">
                    <a:prstClr val="black">
                      <a:alpha val="50000"/>
                    </a:prstClr>
                  </a:innerShdw>
                </a:effectLst>
                <a:latin typeface="Funtastic"/>
                <a:ea typeface="Funtastic"/>
                <a:cs typeface="Funtastic"/>
                <a:sym typeface="Funtastic"/>
              </a:rPr>
              <a:t>APA ITU NESTED LOOP?</a:t>
            </a:r>
          </a:p>
        </p:txBody>
      </p:sp>
      <p:grpSp>
        <p:nvGrpSpPr>
          <p:cNvPr id="6" name="Group 6"/>
          <p:cNvGrpSpPr/>
          <p:nvPr/>
        </p:nvGrpSpPr>
        <p:grpSpPr>
          <a:xfrm>
            <a:off x="3205867" y="4112563"/>
            <a:ext cx="11876267" cy="4300394"/>
            <a:chOff x="0" y="0"/>
            <a:chExt cx="15835022" cy="5733859"/>
          </a:xfrm>
        </p:grpSpPr>
        <p:grpSp>
          <p:nvGrpSpPr>
            <p:cNvPr id="7" name="Group 7"/>
            <p:cNvGrpSpPr/>
            <p:nvPr/>
          </p:nvGrpSpPr>
          <p:grpSpPr>
            <a:xfrm>
              <a:off x="0" y="0"/>
              <a:ext cx="5278341" cy="5733859"/>
              <a:chOff x="0" y="0"/>
              <a:chExt cx="1042635" cy="1132614"/>
            </a:xfrm>
          </p:grpSpPr>
          <p:sp>
            <p:nvSpPr>
              <p:cNvPr id="8" name="Freeform 8"/>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77BFD7"/>
              </a:solidFill>
              <a:ln w="95250" cap="rnd">
                <a:solidFill>
                  <a:srgbClr val="222222"/>
                </a:solidFill>
                <a:prstDash val="solid"/>
                <a:round/>
              </a:ln>
            </p:spPr>
          </p:sp>
          <p:sp>
            <p:nvSpPr>
              <p:cNvPr id="9" name="TextBox 9"/>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grpSp>
          <p:nvGrpSpPr>
            <p:cNvPr id="10" name="Group 10"/>
            <p:cNvGrpSpPr/>
            <p:nvPr/>
          </p:nvGrpSpPr>
          <p:grpSpPr>
            <a:xfrm>
              <a:off x="5278341" y="0"/>
              <a:ext cx="5278341" cy="5733859"/>
              <a:chOff x="0" y="0"/>
              <a:chExt cx="1042635" cy="1132614"/>
            </a:xfrm>
          </p:grpSpPr>
          <p:sp>
            <p:nvSpPr>
              <p:cNvPr id="11" name="Freeform 11"/>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E8B98C"/>
              </a:solidFill>
              <a:ln w="95250" cap="rnd">
                <a:solidFill>
                  <a:srgbClr val="222222"/>
                </a:solidFill>
                <a:prstDash val="solid"/>
                <a:round/>
              </a:ln>
            </p:spPr>
          </p:sp>
          <p:sp>
            <p:nvSpPr>
              <p:cNvPr id="12" name="TextBox 12"/>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grpSp>
          <p:nvGrpSpPr>
            <p:cNvPr id="13" name="Group 13"/>
            <p:cNvGrpSpPr/>
            <p:nvPr/>
          </p:nvGrpSpPr>
          <p:grpSpPr>
            <a:xfrm>
              <a:off x="10556681" y="0"/>
              <a:ext cx="5278341" cy="5733859"/>
              <a:chOff x="0" y="0"/>
              <a:chExt cx="1042635" cy="1132614"/>
            </a:xfrm>
          </p:grpSpPr>
          <p:sp>
            <p:nvSpPr>
              <p:cNvPr id="14" name="Freeform 14"/>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A8B99A"/>
              </a:solidFill>
              <a:ln w="95250" cap="rnd">
                <a:solidFill>
                  <a:srgbClr val="222222"/>
                </a:solidFill>
                <a:prstDash val="solid"/>
                <a:round/>
              </a:ln>
            </p:spPr>
          </p:sp>
          <p:sp>
            <p:nvSpPr>
              <p:cNvPr id="15" name="TextBox 15"/>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grpSp>
      <p:sp>
        <p:nvSpPr>
          <p:cNvPr id="16" name="TextBox 16"/>
          <p:cNvSpPr txBox="1"/>
          <p:nvPr/>
        </p:nvSpPr>
        <p:spPr>
          <a:xfrm>
            <a:off x="7229541" y="6015110"/>
            <a:ext cx="3891704" cy="544830"/>
          </a:xfrm>
          <a:prstGeom prst="rect">
            <a:avLst/>
          </a:prstGeom>
        </p:spPr>
        <p:txBody>
          <a:bodyPr lIns="0" tIns="0" rIns="0" bIns="0" rtlCol="0" anchor="t">
            <a:spAutoFit/>
          </a:bodyPr>
          <a:lstStyle/>
          <a:p>
            <a:pPr algn="ctr">
              <a:lnSpc>
                <a:spcPts val="3510"/>
              </a:lnSpc>
            </a:pPr>
            <a:r>
              <a:rPr lang="en-US" sz="4500" b="1">
                <a:solidFill>
                  <a:srgbClr val="5B3824"/>
                </a:solidFill>
                <a:latin typeface="Poppins Bold"/>
                <a:ea typeface="Poppins Bold"/>
                <a:cs typeface="Poppins Bold"/>
                <a:sym typeface="Poppins Bold"/>
              </a:rPr>
              <a:t>TUJUAN</a:t>
            </a:r>
          </a:p>
        </p:txBody>
      </p:sp>
      <p:sp>
        <p:nvSpPr>
          <p:cNvPr id="17" name="TextBox 17"/>
          <p:cNvSpPr txBox="1"/>
          <p:nvPr/>
        </p:nvSpPr>
        <p:spPr>
          <a:xfrm>
            <a:off x="11121245" y="6015110"/>
            <a:ext cx="3891704" cy="544830"/>
          </a:xfrm>
          <a:prstGeom prst="rect">
            <a:avLst/>
          </a:prstGeom>
        </p:spPr>
        <p:txBody>
          <a:bodyPr lIns="0" tIns="0" rIns="0" bIns="0" rtlCol="0" anchor="t">
            <a:spAutoFit/>
          </a:bodyPr>
          <a:lstStyle/>
          <a:p>
            <a:pPr algn="ctr">
              <a:lnSpc>
                <a:spcPts val="3510"/>
              </a:lnSpc>
            </a:pPr>
            <a:r>
              <a:rPr lang="en-US" sz="4500" b="1">
                <a:solidFill>
                  <a:srgbClr val="30432D"/>
                </a:solidFill>
                <a:latin typeface="Poppins Bold"/>
                <a:ea typeface="Poppins Bold"/>
                <a:cs typeface="Poppins Bold"/>
                <a:sym typeface="Poppins Bold"/>
              </a:rPr>
              <a:t>FUNGSI</a:t>
            </a:r>
          </a:p>
        </p:txBody>
      </p:sp>
      <p:sp>
        <p:nvSpPr>
          <p:cNvPr id="18" name="TextBox 18"/>
          <p:cNvSpPr txBox="1"/>
          <p:nvPr/>
        </p:nvSpPr>
        <p:spPr>
          <a:xfrm>
            <a:off x="3305668" y="6015110"/>
            <a:ext cx="3802273" cy="544830"/>
          </a:xfrm>
          <a:prstGeom prst="rect">
            <a:avLst/>
          </a:prstGeom>
        </p:spPr>
        <p:txBody>
          <a:bodyPr lIns="0" tIns="0" rIns="0" bIns="0" rtlCol="0" anchor="t">
            <a:spAutoFit/>
          </a:bodyPr>
          <a:lstStyle/>
          <a:p>
            <a:pPr algn="ctr">
              <a:lnSpc>
                <a:spcPts val="3510"/>
              </a:lnSpc>
            </a:pPr>
            <a:r>
              <a:rPr lang="en-US" sz="4500" b="1">
                <a:solidFill>
                  <a:srgbClr val="244653"/>
                </a:solidFill>
                <a:latin typeface="Poppins Bold"/>
                <a:ea typeface="Poppins Bold"/>
                <a:cs typeface="Poppins Bold"/>
                <a:sym typeface="Poppins Bold"/>
              </a:rPr>
              <a:t>PENGERTIAN</a:t>
            </a:r>
          </a:p>
        </p:txBody>
      </p:sp>
      <p:sp>
        <p:nvSpPr>
          <p:cNvPr id="19" name="Freeform 19"/>
          <p:cNvSpPr/>
          <p:nvPr/>
        </p:nvSpPr>
        <p:spPr>
          <a:xfrm>
            <a:off x="8234160" y="233851"/>
            <a:ext cx="1819680" cy="1589698"/>
          </a:xfrm>
          <a:custGeom>
            <a:avLst/>
            <a:gdLst/>
            <a:ahLst/>
            <a:cxnLst/>
            <a:rect l="l" t="t" r="r" b="b"/>
            <a:pathLst>
              <a:path w="1819680" h="1589698">
                <a:moveTo>
                  <a:pt x="0" y="0"/>
                </a:moveTo>
                <a:lnTo>
                  <a:pt x="1819680" y="0"/>
                </a:lnTo>
                <a:lnTo>
                  <a:pt x="1819680" y="1589698"/>
                </a:lnTo>
                <a:lnTo>
                  <a:pt x="0" y="1589698"/>
                </a:lnTo>
                <a:lnTo>
                  <a:pt x="0" y="0"/>
                </a:lnTo>
                <a:close/>
              </a:path>
            </a:pathLst>
          </a:custGeom>
          <a:blipFill>
            <a:blip r:embed="rId4"/>
            <a:stretch>
              <a:fillRect/>
            </a:stretch>
          </a:blipFill>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3036570" y="3948382"/>
            <a:ext cx="5216635" cy="5335911"/>
            <a:chOff x="0" y="0"/>
            <a:chExt cx="1373929" cy="1405343"/>
          </a:xfrm>
        </p:grpSpPr>
        <p:sp>
          <p:nvSpPr>
            <p:cNvPr id="6" name="Freeform 6"/>
            <p:cNvSpPr/>
            <p:nvPr/>
          </p:nvSpPr>
          <p:spPr>
            <a:xfrm>
              <a:off x="0" y="0"/>
              <a:ext cx="1373929" cy="1405343"/>
            </a:xfrm>
            <a:custGeom>
              <a:avLst/>
              <a:gdLst/>
              <a:ahLst/>
              <a:cxnLst/>
              <a:rect l="l" t="t" r="r" b="b"/>
              <a:pathLst>
                <a:path w="1373929" h="1405343">
                  <a:moveTo>
                    <a:pt x="75688" y="0"/>
                  </a:moveTo>
                  <a:lnTo>
                    <a:pt x="1298240" y="0"/>
                  </a:lnTo>
                  <a:cubicBezTo>
                    <a:pt x="1318314" y="0"/>
                    <a:pt x="1337566" y="7974"/>
                    <a:pt x="1351760" y="22169"/>
                  </a:cubicBezTo>
                  <a:cubicBezTo>
                    <a:pt x="1365954" y="36363"/>
                    <a:pt x="1373929" y="55614"/>
                    <a:pt x="1373929" y="75688"/>
                  </a:cubicBezTo>
                  <a:lnTo>
                    <a:pt x="1373929" y="1329655"/>
                  </a:lnTo>
                  <a:cubicBezTo>
                    <a:pt x="1373929" y="1349728"/>
                    <a:pt x="1365954" y="1368980"/>
                    <a:pt x="1351760" y="1383174"/>
                  </a:cubicBezTo>
                  <a:cubicBezTo>
                    <a:pt x="1337566" y="1397369"/>
                    <a:pt x="1318314" y="1405343"/>
                    <a:pt x="1298240" y="1405343"/>
                  </a:cubicBezTo>
                  <a:lnTo>
                    <a:pt x="75688" y="1405343"/>
                  </a:lnTo>
                  <a:cubicBezTo>
                    <a:pt x="33887" y="1405343"/>
                    <a:pt x="0" y="1371456"/>
                    <a:pt x="0" y="1329655"/>
                  </a:cubicBezTo>
                  <a:lnTo>
                    <a:pt x="0" y="75688"/>
                  </a:lnTo>
                  <a:cubicBezTo>
                    <a:pt x="0" y="55614"/>
                    <a:pt x="7974" y="36363"/>
                    <a:pt x="22169" y="22169"/>
                  </a:cubicBezTo>
                  <a:cubicBezTo>
                    <a:pt x="36363" y="7974"/>
                    <a:pt x="55614" y="0"/>
                    <a:pt x="75688" y="0"/>
                  </a:cubicBezTo>
                  <a:close/>
                </a:path>
              </a:pathLst>
            </a:custGeom>
            <a:solidFill>
              <a:srgbClr val="77BFD7"/>
            </a:solidFill>
            <a:ln w="95250" cap="rnd">
              <a:solidFill>
                <a:srgbClr val="222222"/>
              </a:solidFill>
              <a:prstDash val="solid"/>
              <a:round/>
            </a:ln>
          </p:spPr>
        </p:sp>
        <p:sp>
          <p:nvSpPr>
            <p:cNvPr id="7" name="TextBox 7"/>
            <p:cNvSpPr txBox="1"/>
            <p:nvPr/>
          </p:nvSpPr>
          <p:spPr>
            <a:xfrm>
              <a:off x="0" y="-38100"/>
              <a:ext cx="1373929" cy="1443443"/>
            </a:xfrm>
            <a:prstGeom prst="rect">
              <a:avLst/>
            </a:prstGeom>
          </p:spPr>
          <p:txBody>
            <a:bodyPr lIns="50800" tIns="50800" rIns="50800" bIns="50800" rtlCol="0" anchor="ctr"/>
            <a:lstStyle/>
            <a:p>
              <a:pPr algn="ctr">
                <a:lnSpc>
                  <a:spcPts val="2609"/>
                </a:lnSpc>
              </a:pPr>
              <a:endParaRPr/>
            </a:p>
          </p:txBody>
        </p:sp>
      </p:grpSp>
      <p:grpSp>
        <p:nvGrpSpPr>
          <p:cNvPr id="8" name="Group 8"/>
          <p:cNvGrpSpPr/>
          <p:nvPr/>
        </p:nvGrpSpPr>
        <p:grpSpPr>
          <a:xfrm>
            <a:off x="8253206" y="4983899"/>
            <a:ext cx="3958756" cy="4300394"/>
            <a:chOff x="0" y="0"/>
            <a:chExt cx="1042635" cy="1132614"/>
          </a:xfrm>
        </p:grpSpPr>
        <p:sp>
          <p:nvSpPr>
            <p:cNvPr id="9" name="Freeform 9"/>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E8B98C"/>
            </a:solidFill>
            <a:ln w="95250" cap="rnd">
              <a:solidFill>
                <a:srgbClr val="222222"/>
              </a:solidFill>
              <a:prstDash val="solid"/>
              <a:round/>
            </a:ln>
          </p:spPr>
        </p:sp>
        <p:sp>
          <p:nvSpPr>
            <p:cNvPr id="10" name="TextBox 10"/>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grpSp>
        <p:nvGrpSpPr>
          <p:cNvPr id="11" name="Group 11"/>
          <p:cNvGrpSpPr/>
          <p:nvPr/>
        </p:nvGrpSpPr>
        <p:grpSpPr>
          <a:xfrm>
            <a:off x="12211961" y="4983899"/>
            <a:ext cx="3958756" cy="4300394"/>
            <a:chOff x="0" y="0"/>
            <a:chExt cx="1042635" cy="1132614"/>
          </a:xfrm>
        </p:grpSpPr>
        <p:sp>
          <p:nvSpPr>
            <p:cNvPr id="12" name="Freeform 12"/>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A8B99A"/>
            </a:solidFill>
            <a:ln w="95250" cap="rnd">
              <a:solidFill>
                <a:srgbClr val="222222"/>
              </a:solidFill>
              <a:prstDash val="solid"/>
              <a:round/>
            </a:ln>
          </p:spPr>
        </p:sp>
        <p:sp>
          <p:nvSpPr>
            <p:cNvPr id="13" name="TextBox 13"/>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sp>
        <p:nvSpPr>
          <p:cNvPr id="14" name="TextBox 14"/>
          <p:cNvSpPr txBox="1"/>
          <p:nvPr/>
        </p:nvSpPr>
        <p:spPr>
          <a:xfrm>
            <a:off x="12279013" y="6886446"/>
            <a:ext cx="3891704" cy="544830"/>
          </a:xfrm>
          <a:prstGeom prst="rect">
            <a:avLst/>
          </a:prstGeom>
        </p:spPr>
        <p:txBody>
          <a:bodyPr lIns="0" tIns="0" rIns="0" bIns="0" rtlCol="0" anchor="t">
            <a:spAutoFit/>
          </a:bodyPr>
          <a:lstStyle/>
          <a:p>
            <a:pPr algn="ctr">
              <a:lnSpc>
                <a:spcPts val="3510"/>
              </a:lnSpc>
            </a:pPr>
            <a:r>
              <a:rPr lang="en-US" sz="4500" b="1">
                <a:solidFill>
                  <a:srgbClr val="30432D"/>
                </a:solidFill>
                <a:latin typeface="Poppins Bold"/>
                <a:ea typeface="Poppins Bold"/>
                <a:cs typeface="Poppins Bold"/>
                <a:sym typeface="Poppins Bold"/>
              </a:rPr>
              <a:t>FUNGSI</a:t>
            </a:r>
          </a:p>
        </p:txBody>
      </p:sp>
      <p:sp>
        <p:nvSpPr>
          <p:cNvPr id="15" name="TextBox 15"/>
          <p:cNvSpPr txBox="1"/>
          <p:nvPr/>
        </p:nvSpPr>
        <p:spPr>
          <a:xfrm>
            <a:off x="3406024" y="5301012"/>
            <a:ext cx="4610760" cy="3170868"/>
          </a:xfrm>
          <a:prstGeom prst="rect">
            <a:avLst/>
          </a:prstGeom>
        </p:spPr>
        <p:txBody>
          <a:bodyPr wrap="square" lIns="0" tIns="0" rIns="0" bIns="0" rtlCol="0" anchor="t">
            <a:spAutoFit/>
          </a:bodyPr>
          <a:lstStyle/>
          <a:p>
            <a:pPr algn="ctr">
              <a:lnSpc>
                <a:spcPts val="4199"/>
              </a:lnSpc>
            </a:pPr>
            <a:r>
              <a:rPr lang="en-US" sz="2999" spc="-59" dirty="0">
                <a:solidFill>
                  <a:srgbClr val="000000"/>
                </a:solidFill>
                <a:latin typeface="Jua"/>
                <a:ea typeface="Jua"/>
                <a:cs typeface="Jua"/>
                <a:sym typeface="Jua"/>
              </a:rPr>
              <a:t>Nested loop </a:t>
            </a:r>
            <a:r>
              <a:rPr lang="en-US" sz="2999" spc="-59" dirty="0" err="1">
                <a:solidFill>
                  <a:srgbClr val="000000"/>
                </a:solidFill>
                <a:latin typeface="Jua"/>
                <a:ea typeface="Jua"/>
                <a:cs typeface="Jua"/>
                <a:sym typeface="Jua"/>
              </a:rPr>
              <a:t>atau</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perulangan</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bersarang</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adalah</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struktur</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perulangan</a:t>
            </a:r>
            <a:r>
              <a:rPr lang="en-US" sz="2999" spc="-59" dirty="0">
                <a:solidFill>
                  <a:srgbClr val="000000"/>
                </a:solidFill>
                <a:latin typeface="Jua"/>
                <a:ea typeface="Jua"/>
                <a:cs typeface="Jua"/>
                <a:sym typeface="Jua"/>
              </a:rPr>
              <a:t> (loop) di </a:t>
            </a:r>
            <a:r>
              <a:rPr lang="en-US" sz="2999" spc="-59" dirty="0" err="1">
                <a:solidFill>
                  <a:srgbClr val="000000"/>
                </a:solidFill>
                <a:latin typeface="Jua"/>
                <a:ea typeface="Jua"/>
                <a:cs typeface="Jua"/>
                <a:sym typeface="Jua"/>
              </a:rPr>
              <a:t>dalam</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perulangan</a:t>
            </a:r>
            <a:r>
              <a:rPr lang="en-US" sz="2999" spc="-59" dirty="0">
                <a:solidFill>
                  <a:srgbClr val="000000"/>
                </a:solidFill>
                <a:latin typeface="Jua"/>
                <a:ea typeface="Jua"/>
                <a:cs typeface="Jua"/>
                <a:sym typeface="Jua"/>
              </a:rPr>
              <a:t> </a:t>
            </a:r>
            <a:r>
              <a:rPr lang="en-US" sz="2999" spc="-59" dirty="0" err="1">
                <a:solidFill>
                  <a:srgbClr val="000000"/>
                </a:solidFill>
                <a:latin typeface="Jua"/>
                <a:ea typeface="Jua"/>
                <a:cs typeface="Jua"/>
                <a:sym typeface="Jua"/>
              </a:rPr>
              <a:t>lainnya</a:t>
            </a:r>
            <a:r>
              <a:rPr lang="en-US" sz="2999" spc="-59" dirty="0">
                <a:solidFill>
                  <a:srgbClr val="000000"/>
                </a:solidFill>
                <a:latin typeface="Jua"/>
                <a:ea typeface="Jua"/>
                <a:cs typeface="Jua"/>
                <a:sym typeface="Jua"/>
              </a:rPr>
              <a:t>.</a:t>
            </a:r>
          </a:p>
        </p:txBody>
      </p:sp>
      <p:sp>
        <p:nvSpPr>
          <p:cNvPr id="16" name="TextBox 16"/>
          <p:cNvSpPr txBox="1"/>
          <p:nvPr/>
        </p:nvSpPr>
        <p:spPr>
          <a:xfrm>
            <a:off x="3259560" y="4533900"/>
            <a:ext cx="4770655" cy="609600"/>
          </a:xfrm>
          <a:prstGeom prst="rect">
            <a:avLst/>
          </a:prstGeom>
        </p:spPr>
        <p:txBody>
          <a:bodyPr lIns="0" tIns="0" rIns="0" bIns="0" rtlCol="0" anchor="t">
            <a:spAutoFit/>
          </a:bodyPr>
          <a:lstStyle/>
          <a:p>
            <a:pPr algn="ctr">
              <a:lnSpc>
                <a:spcPts val="3900"/>
              </a:lnSpc>
            </a:pPr>
            <a:r>
              <a:rPr lang="en-US" sz="5000" b="1">
                <a:solidFill>
                  <a:srgbClr val="244653"/>
                </a:solidFill>
                <a:latin typeface="Poppins Bold"/>
                <a:ea typeface="Poppins Bold"/>
                <a:cs typeface="Poppins Bold"/>
                <a:sym typeface="Poppins Bold"/>
              </a:rPr>
              <a:t>PENGERTIAN</a:t>
            </a:r>
          </a:p>
        </p:txBody>
      </p:sp>
      <p:sp>
        <p:nvSpPr>
          <p:cNvPr id="17" name="TextBox 17"/>
          <p:cNvSpPr txBox="1"/>
          <p:nvPr/>
        </p:nvSpPr>
        <p:spPr>
          <a:xfrm>
            <a:off x="8253206" y="6886446"/>
            <a:ext cx="3891704" cy="544830"/>
          </a:xfrm>
          <a:prstGeom prst="rect">
            <a:avLst/>
          </a:prstGeom>
        </p:spPr>
        <p:txBody>
          <a:bodyPr lIns="0" tIns="0" rIns="0" bIns="0" rtlCol="0" anchor="t">
            <a:spAutoFit/>
          </a:bodyPr>
          <a:lstStyle/>
          <a:p>
            <a:pPr algn="ctr">
              <a:lnSpc>
                <a:spcPts val="3510"/>
              </a:lnSpc>
            </a:pPr>
            <a:r>
              <a:rPr lang="en-US" sz="4500" b="1">
                <a:solidFill>
                  <a:srgbClr val="5B3824"/>
                </a:solidFill>
                <a:latin typeface="Poppins Bold"/>
                <a:ea typeface="Poppins Bold"/>
                <a:cs typeface="Poppins Bold"/>
                <a:sym typeface="Poppins Bold"/>
              </a:rPr>
              <a:t>TUJUAN</a:t>
            </a:r>
          </a:p>
        </p:txBody>
      </p:sp>
      <p:sp>
        <p:nvSpPr>
          <p:cNvPr id="18" name="Freeform 18"/>
          <p:cNvSpPr/>
          <p:nvPr/>
        </p:nvSpPr>
        <p:spPr>
          <a:xfrm>
            <a:off x="2166121" y="7431276"/>
            <a:ext cx="2186878" cy="2226496"/>
          </a:xfrm>
          <a:custGeom>
            <a:avLst/>
            <a:gdLst/>
            <a:ahLst/>
            <a:cxnLst/>
            <a:rect l="l" t="t" r="r" b="b"/>
            <a:pathLst>
              <a:path w="2186878" h="2226496">
                <a:moveTo>
                  <a:pt x="0" y="0"/>
                </a:moveTo>
                <a:lnTo>
                  <a:pt x="2186879" y="0"/>
                </a:lnTo>
                <a:lnTo>
                  <a:pt x="2186879" y="2226496"/>
                </a:lnTo>
                <a:lnTo>
                  <a:pt x="0" y="2226496"/>
                </a:lnTo>
                <a:lnTo>
                  <a:pt x="0" y="0"/>
                </a:lnTo>
                <a:close/>
              </a:path>
            </a:pathLst>
          </a:custGeom>
          <a:blipFill>
            <a:blip r:embed="rId4"/>
            <a:stretch>
              <a:fillRect/>
            </a:stretch>
          </a:blipFill>
        </p:spPr>
      </p:sp>
      <p:sp>
        <p:nvSpPr>
          <p:cNvPr id="19" name="Freeform 19"/>
          <p:cNvSpPr/>
          <p:nvPr/>
        </p:nvSpPr>
        <p:spPr>
          <a:xfrm rot="6494634">
            <a:off x="15213326" y="2841860"/>
            <a:ext cx="1586412" cy="2115216"/>
          </a:xfrm>
          <a:custGeom>
            <a:avLst/>
            <a:gdLst/>
            <a:ahLst/>
            <a:cxnLst/>
            <a:rect l="l" t="t" r="r" b="b"/>
            <a:pathLst>
              <a:path w="1586412" h="2115216">
                <a:moveTo>
                  <a:pt x="0" y="0"/>
                </a:moveTo>
                <a:lnTo>
                  <a:pt x="1586412" y="0"/>
                </a:lnTo>
                <a:lnTo>
                  <a:pt x="1586412" y="2115216"/>
                </a:lnTo>
                <a:lnTo>
                  <a:pt x="0" y="2115216"/>
                </a:lnTo>
                <a:lnTo>
                  <a:pt x="0" y="0"/>
                </a:lnTo>
                <a:close/>
              </a:path>
            </a:pathLst>
          </a:custGeom>
          <a:blipFill>
            <a:blip r:embed="rId5"/>
            <a:stretch>
              <a:fillRect/>
            </a:stretch>
          </a:blipFill>
        </p:spPr>
      </p:sp>
      <p:sp>
        <p:nvSpPr>
          <p:cNvPr id="20" name="TextBox 20"/>
          <p:cNvSpPr txBox="1"/>
          <p:nvPr/>
        </p:nvSpPr>
        <p:spPr>
          <a:xfrm>
            <a:off x="646313" y="1523123"/>
            <a:ext cx="17058160" cy="1160574"/>
          </a:xfrm>
          <a:prstGeom prst="rect">
            <a:avLst/>
          </a:prstGeom>
        </p:spPr>
        <p:txBody>
          <a:bodyPr lIns="0" tIns="0" rIns="0" bIns="0" rtlCol="0" anchor="t">
            <a:spAutoFit/>
          </a:bodyPr>
          <a:lstStyle/>
          <a:p>
            <a:pPr algn="ctr">
              <a:lnSpc>
                <a:spcPts val="8969"/>
              </a:lnSpc>
            </a:pPr>
            <a:r>
              <a:rPr lang="en-US" sz="11499" dirty="0">
                <a:solidFill>
                  <a:srgbClr val="FFFFFF"/>
                </a:solidFill>
                <a:effectLst>
                  <a:innerShdw blurRad="63500" dist="50800" dir="10800000">
                    <a:prstClr val="black">
                      <a:alpha val="50000"/>
                    </a:prstClr>
                  </a:innerShdw>
                </a:effectLst>
                <a:latin typeface="Funtastic"/>
                <a:ea typeface="Funtastic"/>
                <a:cs typeface="Funtastic"/>
                <a:sym typeface="Funtastic"/>
              </a:rPr>
              <a:t>APA ITU NESTED LOOP?</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7887100" y="3961263"/>
            <a:ext cx="4300538" cy="5323030"/>
            <a:chOff x="0" y="0"/>
            <a:chExt cx="1132652" cy="1401950"/>
          </a:xfrm>
        </p:grpSpPr>
        <p:sp>
          <p:nvSpPr>
            <p:cNvPr id="6" name="Freeform 6"/>
            <p:cNvSpPr/>
            <p:nvPr/>
          </p:nvSpPr>
          <p:spPr>
            <a:xfrm>
              <a:off x="0" y="0"/>
              <a:ext cx="1132652" cy="1401950"/>
            </a:xfrm>
            <a:custGeom>
              <a:avLst/>
              <a:gdLst/>
              <a:ahLst/>
              <a:cxnLst/>
              <a:rect l="l" t="t" r="r" b="b"/>
              <a:pathLst>
                <a:path w="1132652" h="1401950">
                  <a:moveTo>
                    <a:pt x="91811" y="0"/>
                  </a:moveTo>
                  <a:lnTo>
                    <a:pt x="1040841" y="0"/>
                  </a:lnTo>
                  <a:cubicBezTo>
                    <a:pt x="1065191" y="0"/>
                    <a:pt x="1088543" y="9673"/>
                    <a:pt x="1105761" y="26891"/>
                  </a:cubicBezTo>
                  <a:cubicBezTo>
                    <a:pt x="1122979" y="44109"/>
                    <a:pt x="1132652" y="67461"/>
                    <a:pt x="1132652" y="91811"/>
                  </a:cubicBezTo>
                  <a:lnTo>
                    <a:pt x="1132652" y="1310139"/>
                  </a:lnTo>
                  <a:cubicBezTo>
                    <a:pt x="1132652" y="1334489"/>
                    <a:pt x="1122979" y="1357841"/>
                    <a:pt x="1105761" y="1375059"/>
                  </a:cubicBezTo>
                  <a:cubicBezTo>
                    <a:pt x="1088543" y="1392277"/>
                    <a:pt x="1065191" y="1401950"/>
                    <a:pt x="1040841" y="1401950"/>
                  </a:cubicBezTo>
                  <a:lnTo>
                    <a:pt x="91811" y="1401950"/>
                  </a:lnTo>
                  <a:cubicBezTo>
                    <a:pt x="67461" y="1401950"/>
                    <a:pt x="44109" y="1392277"/>
                    <a:pt x="26891" y="1375059"/>
                  </a:cubicBezTo>
                  <a:cubicBezTo>
                    <a:pt x="9673" y="1357841"/>
                    <a:pt x="0" y="1334489"/>
                    <a:pt x="0" y="1310139"/>
                  </a:cubicBezTo>
                  <a:lnTo>
                    <a:pt x="0" y="91811"/>
                  </a:lnTo>
                  <a:cubicBezTo>
                    <a:pt x="0" y="67461"/>
                    <a:pt x="9673" y="44109"/>
                    <a:pt x="26891" y="26891"/>
                  </a:cubicBezTo>
                  <a:cubicBezTo>
                    <a:pt x="44109" y="9673"/>
                    <a:pt x="67461" y="0"/>
                    <a:pt x="91811" y="0"/>
                  </a:cubicBezTo>
                  <a:close/>
                </a:path>
              </a:pathLst>
            </a:custGeom>
            <a:solidFill>
              <a:srgbClr val="E8B98C"/>
            </a:solidFill>
            <a:ln w="95250" cap="rnd">
              <a:solidFill>
                <a:srgbClr val="222222"/>
              </a:solidFill>
              <a:prstDash val="solid"/>
              <a:round/>
            </a:ln>
          </p:spPr>
        </p:sp>
        <p:sp>
          <p:nvSpPr>
            <p:cNvPr id="7" name="TextBox 7"/>
            <p:cNvSpPr txBox="1"/>
            <p:nvPr/>
          </p:nvSpPr>
          <p:spPr>
            <a:xfrm>
              <a:off x="0" y="-38100"/>
              <a:ext cx="1132652" cy="1440050"/>
            </a:xfrm>
            <a:prstGeom prst="rect">
              <a:avLst/>
            </a:prstGeom>
          </p:spPr>
          <p:txBody>
            <a:bodyPr lIns="50800" tIns="50800" rIns="50800" bIns="50800" rtlCol="0" anchor="ctr"/>
            <a:lstStyle/>
            <a:p>
              <a:pPr algn="ctr">
                <a:lnSpc>
                  <a:spcPts val="2609"/>
                </a:lnSpc>
              </a:pPr>
              <a:endParaRPr/>
            </a:p>
          </p:txBody>
        </p:sp>
      </p:grpSp>
      <p:grpSp>
        <p:nvGrpSpPr>
          <p:cNvPr id="8" name="Group 8"/>
          <p:cNvGrpSpPr/>
          <p:nvPr/>
        </p:nvGrpSpPr>
        <p:grpSpPr>
          <a:xfrm>
            <a:off x="12065644" y="4983899"/>
            <a:ext cx="3958756" cy="4300394"/>
            <a:chOff x="0" y="0"/>
            <a:chExt cx="5278341" cy="5733859"/>
          </a:xfrm>
        </p:grpSpPr>
        <p:grpSp>
          <p:nvGrpSpPr>
            <p:cNvPr id="9" name="Group 9"/>
            <p:cNvGrpSpPr/>
            <p:nvPr/>
          </p:nvGrpSpPr>
          <p:grpSpPr>
            <a:xfrm>
              <a:off x="0" y="0"/>
              <a:ext cx="5278341" cy="5733859"/>
              <a:chOff x="0" y="0"/>
              <a:chExt cx="1042635" cy="1132614"/>
            </a:xfrm>
          </p:grpSpPr>
          <p:sp>
            <p:nvSpPr>
              <p:cNvPr id="10" name="Freeform 10"/>
              <p:cNvSpPr/>
              <p:nvPr/>
            </p:nvSpPr>
            <p:spPr>
              <a:xfrm>
                <a:off x="0" y="0"/>
                <a:ext cx="1042635" cy="1132614"/>
              </a:xfrm>
              <a:custGeom>
                <a:avLst/>
                <a:gdLst/>
                <a:ahLst/>
                <a:cxnLst/>
                <a:rect l="l" t="t" r="r" b="b"/>
                <a:pathLst>
                  <a:path w="1042635" h="1132614">
                    <a:moveTo>
                      <a:pt x="99738" y="0"/>
                    </a:moveTo>
                    <a:lnTo>
                      <a:pt x="942897" y="0"/>
                    </a:lnTo>
                    <a:cubicBezTo>
                      <a:pt x="997981" y="0"/>
                      <a:pt x="1042635" y="44654"/>
                      <a:pt x="1042635" y="99738"/>
                    </a:cubicBezTo>
                    <a:lnTo>
                      <a:pt x="1042635" y="1032876"/>
                    </a:lnTo>
                    <a:cubicBezTo>
                      <a:pt x="1042635" y="1059328"/>
                      <a:pt x="1032127" y="1084697"/>
                      <a:pt x="1013423" y="1103402"/>
                    </a:cubicBezTo>
                    <a:cubicBezTo>
                      <a:pt x="994718" y="1122106"/>
                      <a:pt x="969349" y="1132614"/>
                      <a:pt x="942897" y="1132614"/>
                    </a:cubicBezTo>
                    <a:lnTo>
                      <a:pt x="99738" y="1132614"/>
                    </a:lnTo>
                    <a:cubicBezTo>
                      <a:pt x="44654" y="1132614"/>
                      <a:pt x="0" y="1087960"/>
                      <a:pt x="0" y="1032876"/>
                    </a:cubicBezTo>
                    <a:lnTo>
                      <a:pt x="0" y="99738"/>
                    </a:lnTo>
                    <a:cubicBezTo>
                      <a:pt x="0" y="44654"/>
                      <a:pt x="44654" y="0"/>
                      <a:pt x="99738" y="0"/>
                    </a:cubicBezTo>
                    <a:close/>
                  </a:path>
                </a:pathLst>
              </a:custGeom>
              <a:solidFill>
                <a:srgbClr val="A8B99A"/>
              </a:solidFill>
              <a:ln w="95250" cap="rnd">
                <a:solidFill>
                  <a:srgbClr val="222222"/>
                </a:solidFill>
                <a:prstDash val="solid"/>
                <a:round/>
              </a:ln>
            </p:spPr>
          </p:sp>
          <p:sp>
            <p:nvSpPr>
              <p:cNvPr id="11" name="TextBox 11"/>
              <p:cNvSpPr txBox="1"/>
              <p:nvPr/>
            </p:nvSpPr>
            <p:spPr>
              <a:xfrm>
                <a:off x="0" y="-38100"/>
                <a:ext cx="1042635" cy="1170714"/>
              </a:xfrm>
              <a:prstGeom prst="rect">
                <a:avLst/>
              </a:prstGeom>
            </p:spPr>
            <p:txBody>
              <a:bodyPr lIns="50800" tIns="50800" rIns="50800" bIns="50800" rtlCol="0" anchor="ctr"/>
              <a:lstStyle/>
              <a:p>
                <a:pPr algn="ctr">
                  <a:lnSpc>
                    <a:spcPts val="2609"/>
                  </a:lnSpc>
                </a:pPr>
                <a:endParaRPr/>
              </a:p>
            </p:txBody>
          </p:sp>
        </p:grpSp>
        <p:sp>
          <p:nvSpPr>
            <p:cNvPr id="12" name="TextBox 12"/>
            <p:cNvSpPr txBox="1"/>
            <p:nvPr/>
          </p:nvSpPr>
          <p:spPr>
            <a:xfrm>
              <a:off x="89402" y="2492279"/>
              <a:ext cx="5188939" cy="770890"/>
            </a:xfrm>
            <a:prstGeom prst="rect">
              <a:avLst/>
            </a:prstGeom>
          </p:spPr>
          <p:txBody>
            <a:bodyPr lIns="0" tIns="0" rIns="0" bIns="0" rtlCol="0" anchor="t">
              <a:spAutoFit/>
            </a:bodyPr>
            <a:lstStyle/>
            <a:p>
              <a:pPr algn="ctr">
                <a:lnSpc>
                  <a:spcPts val="3510"/>
                </a:lnSpc>
              </a:pPr>
              <a:r>
                <a:rPr lang="en-US" sz="4500" b="1">
                  <a:solidFill>
                    <a:srgbClr val="30432D"/>
                  </a:solidFill>
                  <a:latin typeface="Poppins Bold"/>
                  <a:ea typeface="Poppins Bold"/>
                  <a:cs typeface="Poppins Bold"/>
                  <a:sym typeface="Poppins Bold"/>
                </a:rPr>
                <a:t>FUNGSI</a:t>
              </a:r>
            </a:p>
          </p:txBody>
        </p:sp>
      </p:grpSp>
      <p:grpSp>
        <p:nvGrpSpPr>
          <p:cNvPr id="13" name="Group 13"/>
          <p:cNvGrpSpPr/>
          <p:nvPr/>
        </p:nvGrpSpPr>
        <p:grpSpPr>
          <a:xfrm>
            <a:off x="3549602" y="4983899"/>
            <a:ext cx="4770655" cy="4300394"/>
            <a:chOff x="0" y="0"/>
            <a:chExt cx="6360873" cy="5733859"/>
          </a:xfrm>
        </p:grpSpPr>
        <p:grpSp>
          <p:nvGrpSpPr>
            <p:cNvPr id="14" name="Group 14"/>
            <p:cNvGrpSpPr/>
            <p:nvPr/>
          </p:nvGrpSpPr>
          <p:grpSpPr>
            <a:xfrm>
              <a:off x="440300" y="0"/>
              <a:ext cx="5480274" cy="5733859"/>
              <a:chOff x="0" y="0"/>
              <a:chExt cx="1082523" cy="1132614"/>
            </a:xfrm>
          </p:grpSpPr>
          <p:sp>
            <p:nvSpPr>
              <p:cNvPr id="15" name="Freeform 15"/>
              <p:cNvSpPr/>
              <p:nvPr/>
            </p:nvSpPr>
            <p:spPr>
              <a:xfrm>
                <a:off x="0" y="0"/>
                <a:ext cx="1082523" cy="1132614"/>
              </a:xfrm>
              <a:custGeom>
                <a:avLst/>
                <a:gdLst/>
                <a:ahLst/>
                <a:cxnLst/>
                <a:rect l="l" t="t" r="r" b="b"/>
                <a:pathLst>
                  <a:path w="1082523" h="1132614">
                    <a:moveTo>
                      <a:pt x="96063" y="0"/>
                    </a:moveTo>
                    <a:lnTo>
                      <a:pt x="986460" y="0"/>
                    </a:lnTo>
                    <a:cubicBezTo>
                      <a:pt x="1039514" y="0"/>
                      <a:pt x="1082523" y="43009"/>
                      <a:pt x="1082523" y="96063"/>
                    </a:cubicBezTo>
                    <a:lnTo>
                      <a:pt x="1082523" y="1036551"/>
                    </a:lnTo>
                    <a:cubicBezTo>
                      <a:pt x="1082523" y="1089605"/>
                      <a:pt x="1039514" y="1132614"/>
                      <a:pt x="986460" y="1132614"/>
                    </a:cubicBezTo>
                    <a:lnTo>
                      <a:pt x="96063" y="1132614"/>
                    </a:lnTo>
                    <a:cubicBezTo>
                      <a:pt x="43009" y="1132614"/>
                      <a:pt x="0" y="1089605"/>
                      <a:pt x="0" y="1036551"/>
                    </a:cubicBezTo>
                    <a:lnTo>
                      <a:pt x="0" y="96063"/>
                    </a:lnTo>
                    <a:cubicBezTo>
                      <a:pt x="0" y="43009"/>
                      <a:pt x="43009" y="0"/>
                      <a:pt x="96063" y="0"/>
                    </a:cubicBezTo>
                    <a:close/>
                  </a:path>
                </a:pathLst>
              </a:custGeom>
              <a:solidFill>
                <a:srgbClr val="77BFD7"/>
              </a:solidFill>
              <a:ln w="95250" cap="rnd">
                <a:solidFill>
                  <a:srgbClr val="222222"/>
                </a:solidFill>
                <a:prstDash val="solid"/>
                <a:round/>
              </a:ln>
            </p:spPr>
          </p:sp>
          <p:sp>
            <p:nvSpPr>
              <p:cNvPr id="16" name="TextBox 16"/>
              <p:cNvSpPr txBox="1"/>
              <p:nvPr/>
            </p:nvSpPr>
            <p:spPr>
              <a:xfrm>
                <a:off x="0" y="-38100"/>
                <a:ext cx="1082523" cy="1170714"/>
              </a:xfrm>
              <a:prstGeom prst="rect">
                <a:avLst/>
              </a:prstGeom>
            </p:spPr>
            <p:txBody>
              <a:bodyPr lIns="50800" tIns="50800" rIns="50800" bIns="50800" rtlCol="0" anchor="ctr"/>
              <a:lstStyle/>
              <a:p>
                <a:pPr algn="ctr">
                  <a:lnSpc>
                    <a:spcPts val="2609"/>
                  </a:lnSpc>
                </a:pPr>
                <a:endParaRPr/>
              </a:p>
            </p:txBody>
          </p:sp>
        </p:grpSp>
        <p:sp>
          <p:nvSpPr>
            <p:cNvPr id="17" name="TextBox 17"/>
            <p:cNvSpPr txBox="1"/>
            <p:nvPr/>
          </p:nvSpPr>
          <p:spPr>
            <a:xfrm>
              <a:off x="0" y="2492279"/>
              <a:ext cx="6360873" cy="770890"/>
            </a:xfrm>
            <a:prstGeom prst="rect">
              <a:avLst/>
            </a:prstGeom>
          </p:spPr>
          <p:txBody>
            <a:bodyPr lIns="0" tIns="0" rIns="0" bIns="0" rtlCol="0" anchor="t">
              <a:spAutoFit/>
            </a:bodyPr>
            <a:lstStyle/>
            <a:p>
              <a:pPr algn="ctr">
                <a:lnSpc>
                  <a:spcPts val="3510"/>
                </a:lnSpc>
              </a:pPr>
              <a:r>
                <a:rPr lang="en-US" sz="4500" b="1">
                  <a:solidFill>
                    <a:srgbClr val="244653"/>
                  </a:solidFill>
                  <a:latin typeface="Poppins Bold"/>
                  <a:ea typeface="Poppins Bold"/>
                  <a:cs typeface="Poppins Bold"/>
                  <a:sym typeface="Poppins Bold"/>
                </a:rPr>
                <a:t>PENGERTIAN</a:t>
              </a:r>
            </a:p>
          </p:txBody>
        </p:sp>
      </p:grpSp>
      <p:sp>
        <p:nvSpPr>
          <p:cNvPr id="18" name="TextBox 18"/>
          <p:cNvSpPr txBox="1"/>
          <p:nvPr/>
        </p:nvSpPr>
        <p:spPr>
          <a:xfrm>
            <a:off x="8091517" y="4348306"/>
            <a:ext cx="3891704" cy="609600"/>
          </a:xfrm>
          <a:prstGeom prst="rect">
            <a:avLst/>
          </a:prstGeom>
        </p:spPr>
        <p:txBody>
          <a:bodyPr lIns="0" tIns="0" rIns="0" bIns="0" rtlCol="0" anchor="t">
            <a:spAutoFit/>
          </a:bodyPr>
          <a:lstStyle/>
          <a:p>
            <a:pPr algn="ctr">
              <a:lnSpc>
                <a:spcPts val="3900"/>
              </a:lnSpc>
            </a:pPr>
            <a:r>
              <a:rPr lang="en-US" sz="5000" b="1">
                <a:solidFill>
                  <a:srgbClr val="5B3824"/>
                </a:solidFill>
                <a:latin typeface="Poppins Bold"/>
                <a:ea typeface="Poppins Bold"/>
                <a:cs typeface="Poppins Bold"/>
                <a:sym typeface="Poppins Bold"/>
              </a:rPr>
              <a:t>TUJUAN</a:t>
            </a:r>
          </a:p>
        </p:txBody>
      </p:sp>
      <p:sp>
        <p:nvSpPr>
          <p:cNvPr id="19" name="TextBox 19"/>
          <p:cNvSpPr txBox="1"/>
          <p:nvPr/>
        </p:nvSpPr>
        <p:spPr>
          <a:xfrm>
            <a:off x="8009093" y="5238966"/>
            <a:ext cx="4056551" cy="2733675"/>
          </a:xfrm>
          <a:prstGeom prst="rect">
            <a:avLst/>
          </a:prstGeom>
        </p:spPr>
        <p:txBody>
          <a:bodyPr lIns="0" tIns="0" rIns="0" bIns="0" rtlCol="0" anchor="t">
            <a:spAutoFit/>
          </a:bodyPr>
          <a:lstStyle/>
          <a:p>
            <a:pPr algn="ctr">
              <a:lnSpc>
                <a:spcPts val="4200"/>
              </a:lnSpc>
            </a:pPr>
            <a:r>
              <a:rPr lang="en-US" sz="3000" spc="-60">
                <a:solidFill>
                  <a:srgbClr val="000000"/>
                </a:solidFill>
                <a:latin typeface="Jua"/>
                <a:ea typeface="Jua"/>
                <a:cs typeface="Jua"/>
                <a:sym typeface="Jua"/>
              </a:rPr>
              <a:t>Memecahkan masalah yang membutuhkan iterasi ganda atau </a:t>
            </a:r>
          </a:p>
          <a:p>
            <a:pPr algn="ctr">
              <a:lnSpc>
                <a:spcPts val="4200"/>
              </a:lnSpc>
            </a:pPr>
            <a:r>
              <a:rPr lang="en-US" sz="3000" spc="-60">
                <a:solidFill>
                  <a:srgbClr val="000000"/>
                </a:solidFill>
                <a:latin typeface="Jua"/>
                <a:ea typeface="Jua"/>
                <a:cs typeface="Jua"/>
                <a:sym typeface="Jua"/>
              </a:rPr>
              <a:t>multi-dimensi secara efisien.</a:t>
            </a:r>
          </a:p>
        </p:txBody>
      </p:sp>
      <p:sp>
        <p:nvSpPr>
          <p:cNvPr id="20" name="Freeform 20"/>
          <p:cNvSpPr/>
          <p:nvPr/>
        </p:nvSpPr>
        <p:spPr>
          <a:xfrm>
            <a:off x="8986724" y="7972641"/>
            <a:ext cx="2101289" cy="1871461"/>
          </a:xfrm>
          <a:custGeom>
            <a:avLst/>
            <a:gdLst/>
            <a:ahLst/>
            <a:cxnLst/>
            <a:rect l="l" t="t" r="r" b="b"/>
            <a:pathLst>
              <a:path w="2101289" h="1871461">
                <a:moveTo>
                  <a:pt x="0" y="0"/>
                </a:moveTo>
                <a:lnTo>
                  <a:pt x="2101289" y="0"/>
                </a:lnTo>
                <a:lnTo>
                  <a:pt x="2101289" y="1871461"/>
                </a:lnTo>
                <a:lnTo>
                  <a:pt x="0" y="1871461"/>
                </a:lnTo>
                <a:lnTo>
                  <a:pt x="0" y="0"/>
                </a:lnTo>
                <a:close/>
              </a:path>
            </a:pathLst>
          </a:custGeom>
          <a:blipFill>
            <a:blip r:embed="rId4"/>
            <a:stretch>
              <a:fillRect/>
            </a:stretch>
          </a:blipFill>
        </p:spPr>
      </p:sp>
      <p:sp>
        <p:nvSpPr>
          <p:cNvPr id="21" name="Freeform 21"/>
          <p:cNvSpPr/>
          <p:nvPr/>
        </p:nvSpPr>
        <p:spPr>
          <a:xfrm rot="-1301101">
            <a:off x="2592648" y="2993948"/>
            <a:ext cx="2526865" cy="1934631"/>
          </a:xfrm>
          <a:custGeom>
            <a:avLst/>
            <a:gdLst/>
            <a:ahLst/>
            <a:cxnLst/>
            <a:rect l="l" t="t" r="r" b="b"/>
            <a:pathLst>
              <a:path w="2526865" h="1934631">
                <a:moveTo>
                  <a:pt x="0" y="0"/>
                </a:moveTo>
                <a:lnTo>
                  <a:pt x="2526865" y="0"/>
                </a:lnTo>
                <a:lnTo>
                  <a:pt x="2526865" y="1934630"/>
                </a:lnTo>
                <a:lnTo>
                  <a:pt x="0" y="1934630"/>
                </a:lnTo>
                <a:lnTo>
                  <a:pt x="0" y="0"/>
                </a:lnTo>
                <a:close/>
              </a:path>
            </a:pathLst>
          </a:custGeom>
          <a:blipFill>
            <a:blip r:embed="rId5"/>
            <a:stretch>
              <a:fillRect/>
            </a:stretch>
          </a:blipFill>
        </p:spPr>
      </p:sp>
      <p:sp>
        <p:nvSpPr>
          <p:cNvPr id="22" name="TextBox 22"/>
          <p:cNvSpPr txBox="1"/>
          <p:nvPr/>
        </p:nvSpPr>
        <p:spPr>
          <a:xfrm>
            <a:off x="646313" y="1523123"/>
            <a:ext cx="17058160" cy="1160574"/>
          </a:xfrm>
          <a:prstGeom prst="rect">
            <a:avLst/>
          </a:prstGeom>
        </p:spPr>
        <p:txBody>
          <a:bodyPr lIns="0" tIns="0" rIns="0" bIns="0" rtlCol="0" anchor="t">
            <a:spAutoFit/>
          </a:bodyPr>
          <a:lstStyle/>
          <a:p>
            <a:pPr algn="ctr">
              <a:lnSpc>
                <a:spcPts val="8969"/>
              </a:lnSpc>
            </a:pPr>
            <a:r>
              <a:rPr lang="en-US" sz="11499" dirty="0">
                <a:solidFill>
                  <a:srgbClr val="FFFFFF"/>
                </a:solidFill>
                <a:effectLst>
                  <a:innerShdw blurRad="63500" dist="50800" dir="10800000">
                    <a:prstClr val="black">
                      <a:alpha val="50000"/>
                    </a:prstClr>
                  </a:innerShdw>
                </a:effectLst>
                <a:latin typeface="Funtastic"/>
                <a:ea typeface="Funtastic"/>
                <a:cs typeface="Funtastic"/>
                <a:sym typeface="Funtastic"/>
              </a:rPr>
              <a:t>APA ITU NESTED LOOP?</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2159315" y="4931913"/>
            <a:ext cx="8550636" cy="4326387"/>
            <a:chOff x="0" y="0"/>
            <a:chExt cx="11400847" cy="5768516"/>
          </a:xfrm>
        </p:grpSpPr>
        <p:grpSp>
          <p:nvGrpSpPr>
            <p:cNvPr id="6" name="Group 6"/>
            <p:cNvGrpSpPr/>
            <p:nvPr/>
          </p:nvGrpSpPr>
          <p:grpSpPr>
            <a:xfrm>
              <a:off x="440300" y="17329"/>
              <a:ext cx="5480274" cy="5733859"/>
              <a:chOff x="0" y="0"/>
              <a:chExt cx="1082523" cy="1132614"/>
            </a:xfrm>
          </p:grpSpPr>
          <p:sp>
            <p:nvSpPr>
              <p:cNvPr id="7" name="Freeform 7"/>
              <p:cNvSpPr/>
              <p:nvPr/>
            </p:nvSpPr>
            <p:spPr>
              <a:xfrm>
                <a:off x="0" y="0"/>
                <a:ext cx="1082523" cy="1132614"/>
              </a:xfrm>
              <a:custGeom>
                <a:avLst/>
                <a:gdLst/>
                <a:ahLst/>
                <a:cxnLst/>
                <a:rect l="l" t="t" r="r" b="b"/>
                <a:pathLst>
                  <a:path w="1082523" h="1132614">
                    <a:moveTo>
                      <a:pt x="96063" y="0"/>
                    </a:moveTo>
                    <a:lnTo>
                      <a:pt x="986460" y="0"/>
                    </a:lnTo>
                    <a:cubicBezTo>
                      <a:pt x="1039514" y="0"/>
                      <a:pt x="1082523" y="43009"/>
                      <a:pt x="1082523" y="96063"/>
                    </a:cubicBezTo>
                    <a:lnTo>
                      <a:pt x="1082523" y="1036551"/>
                    </a:lnTo>
                    <a:cubicBezTo>
                      <a:pt x="1082523" y="1089605"/>
                      <a:pt x="1039514" y="1132614"/>
                      <a:pt x="986460" y="1132614"/>
                    </a:cubicBezTo>
                    <a:lnTo>
                      <a:pt x="96063" y="1132614"/>
                    </a:lnTo>
                    <a:cubicBezTo>
                      <a:pt x="43009" y="1132614"/>
                      <a:pt x="0" y="1089605"/>
                      <a:pt x="0" y="1036551"/>
                    </a:cubicBezTo>
                    <a:lnTo>
                      <a:pt x="0" y="96063"/>
                    </a:lnTo>
                    <a:cubicBezTo>
                      <a:pt x="0" y="43009"/>
                      <a:pt x="43009" y="0"/>
                      <a:pt x="96063" y="0"/>
                    </a:cubicBezTo>
                    <a:close/>
                  </a:path>
                </a:pathLst>
              </a:custGeom>
              <a:solidFill>
                <a:srgbClr val="77BFD7"/>
              </a:solidFill>
              <a:ln w="95250" cap="rnd">
                <a:solidFill>
                  <a:srgbClr val="222222"/>
                </a:solidFill>
                <a:prstDash val="solid"/>
                <a:round/>
              </a:ln>
            </p:spPr>
          </p:sp>
          <p:sp>
            <p:nvSpPr>
              <p:cNvPr id="8" name="TextBox 8"/>
              <p:cNvSpPr txBox="1"/>
              <p:nvPr/>
            </p:nvSpPr>
            <p:spPr>
              <a:xfrm>
                <a:off x="0" y="-38100"/>
                <a:ext cx="1082523" cy="1170714"/>
              </a:xfrm>
              <a:prstGeom prst="rect">
                <a:avLst/>
              </a:prstGeom>
            </p:spPr>
            <p:txBody>
              <a:bodyPr lIns="50800" tIns="50800" rIns="50800" bIns="50800" rtlCol="0" anchor="ctr"/>
              <a:lstStyle/>
              <a:p>
                <a:pPr algn="ctr">
                  <a:lnSpc>
                    <a:spcPts val="2609"/>
                  </a:lnSpc>
                </a:pPr>
                <a:endParaRPr/>
              </a:p>
            </p:txBody>
          </p:sp>
        </p:grpSp>
        <p:sp>
          <p:nvSpPr>
            <p:cNvPr id="9" name="TextBox 9"/>
            <p:cNvSpPr txBox="1"/>
            <p:nvPr/>
          </p:nvSpPr>
          <p:spPr>
            <a:xfrm>
              <a:off x="0" y="2509608"/>
              <a:ext cx="6360873" cy="770890"/>
            </a:xfrm>
            <a:prstGeom prst="rect">
              <a:avLst/>
            </a:prstGeom>
          </p:spPr>
          <p:txBody>
            <a:bodyPr lIns="0" tIns="0" rIns="0" bIns="0" rtlCol="0" anchor="t">
              <a:spAutoFit/>
            </a:bodyPr>
            <a:lstStyle/>
            <a:p>
              <a:pPr algn="ctr">
                <a:lnSpc>
                  <a:spcPts val="3510"/>
                </a:lnSpc>
              </a:pPr>
              <a:r>
                <a:rPr lang="en-US" sz="4500" b="1">
                  <a:solidFill>
                    <a:srgbClr val="244653"/>
                  </a:solidFill>
                  <a:latin typeface="Poppins Bold"/>
                  <a:ea typeface="Poppins Bold"/>
                  <a:cs typeface="Poppins Bold"/>
                  <a:sym typeface="Poppins Bold"/>
                </a:rPr>
                <a:t>PENGERTIAN</a:t>
              </a:r>
            </a:p>
          </p:txBody>
        </p:sp>
        <p:grpSp>
          <p:nvGrpSpPr>
            <p:cNvPr id="10" name="Group 10"/>
            <p:cNvGrpSpPr/>
            <p:nvPr/>
          </p:nvGrpSpPr>
          <p:grpSpPr>
            <a:xfrm>
              <a:off x="5920574" y="0"/>
              <a:ext cx="5480274" cy="5768516"/>
              <a:chOff x="0" y="0"/>
              <a:chExt cx="1082523" cy="1139460"/>
            </a:xfrm>
          </p:grpSpPr>
          <p:sp>
            <p:nvSpPr>
              <p:cNvPr id="11" name="Freeform 11"/>
              <p:cNvSpPr/>
              <p:nvPr/>
            </p:nvSpPr>
            <p:spPr>
              <a:xfrm>
                <a:off x="0" y="0"/>
                <a:ext cx="1082523" cy="1139460"/>
              </a:xfrm>
              <a:custGeom>
                <a:avLst/>
                <a:gdLst/>
                <a:ahLst/>
                <a:cxnLst/>
                <a:rect l="l" t="t" r="r" b="b"/>
                <a:pathLst>
                  <a:path w="1082523" h="1139460">
                    <a:moveTo>
                      <a:pt x="96063" y="0"/>
                    </a:moveTo>
                    <a:lnTo>
                      <a:pt x="986460" y="0"/>
                    </a:lnTo>
                    <a:cubicBezTo>
                      <a:pt x="1039514" y="0"/>
                      <a:pt x="1082523" y="43009"/>
                      <a:pt x="1082523" y="96063"/>
                    </a:cubicBezTo>
                    <a:lnTo>
                      <a:pt x="1082523" y="1043397"/>
                    </a:lnTo>
                    <a:cubicBezTo>
                      <a:pt x="1082523" y="1096451"/>
                      <a:pt x="1039514" y="1139460"/>
                      <a:pt x="986460" y="1139460"/>
                    </a:cubicBezTo>
                    <a:lnTo>
                      <a:pt x="96063" y="1139460"/>
                    </a:lnTo>
                    <a:cubicBezTo>
                      <a:pt x="43009" y="1139460"/>
                      <a:pt x="0" y="1096451"/>
                      <a:pt x="0" y="1043397"/>
                    </a:cubicBezTo>
                    <a:lnTo>
                      <a:pt x="0" y="96063"/>
                    </a:lnTo>
                    <a:cubicBezTo>
                      <a:pt x="0" y="43009"/>
                      <a:pt x="43009" y="0"/>
                      <a:pt x="96063" y="0"/>
                    </a:cubicBezTo>
                    <a:close/>
                  </a:path>
                </a:pathLst>
              </a:custGeom>
              <a:solidFill>
                <a:srgbClr val="E8B98C"/>
              </a:solidFill>
              <a:ln w="95250" cap="rnd">
                <a:solidFill>
                  <a:srgbClr val="222222"/>
                </a:solidFill>
                <a:prstDash val="solid"/>
                <a:round/>
              </a:ln>
            </p:spPr>
          </p:sp>
          <p:sp>
            <p:nvSpPr>
              <p:cNvPr id="12" name="TextBox 12"/>
              <p:cNvSpPr txBox="1"/>
              <p:nvPr/>
            </p:nvSpPr>
            <p:spPr>
              <a:xfrm>
                <a:off x="0" y="-38100"/>
                <a:ext cx="1082523" cy="1177560"/>
              </a:xfrm>
              <a:prstGeom prst="rect">
                <a:avLst/>
              </a:prstGeom>
            </p:spPr>
            <p:txBody>
              <a:bodyPr lIns="50800" tIns="50800" rIns="50800" bIns="50800" rtlCol="0" anchor="ctr"/>
              <a:lstStyle/>
              <a:p>
                <a:pPr algn="ctr">
                  <a:lnSpc>
                    <a:spcPts val="2609"/>
                  </a:lnSpc>
                </a:pPr>
                <a:endParaRPr/>
              </a:p>
            </p:txBody>
          </p:sp>
        </p:grpSp>
        <p:sp>
          <p:nvSpPr>
            <p:cNvPr id="13" name="TextBox 13"/>
            <p:cNvSpPr txBox="1"/>
            <p:nvPr/>
          </p:nvSpPr>
          <p:spPr>
            <a:xfrm>
              <a:off x="6104865" y="2582817"/>
              <a:ext cx="5188939" cy="770890"/>
            </a:xfrm>
            <a:prstGeom prst="rect">
              <a:avLst/>
            </a:prstGeom>
          </p:spPr>
          <p:txBody>
            <a:bodyPr lIns="0" tIns="0" rIns="0" bIns="0" rtlCol="0" anchor="t">
              <a:spAutoFit/>
            </a:bodyPr>
            <a:lstStyle/>
            <a:p>
              <a:pPr algn="ctr">
                <a:lnSpc>
                  <a:spcPts val="3510"/>
                </a:lnSpc>
              </a:pPr>
              <a:r>
                <a:rPr lang="en-US" sz="4500" b="1">
                  <a:solidFill>
                    <a:srgbClr val="5B3824"/>
                  </a:solidFill>
                  <a:latin typeface="Poppins Bold"/>
                  <a:ea typeface="Poppins Bold"/>
                  <a:cs typeface="Poppins Bold"/>
                  <a:sym typeface="Poppins Bold"/>
                </a:rPr>
                <a:t>TUJUAN</a:t>
              </a:r>
            </a:p>
          </p:txBody>
        </p:sp>
      </p:grpSp>
      <p:grpSp>
        <p:nvGrpSpPr>
          <p:cNvPr id="14" name="Group 14"/>
          <p:cNvGrpSpPr/>
          <p:nvPr/>
        </p:nvGrpSpPr>
        <p:grpSpPr>
          <a:xfrm>
            <a:off x="10444182" y="2912298"/>
            <a:ext cx="6376663" cy="6346002"/>
            <a:chOff x="58255" y="-583083"/>
            <a:chExt cx="8502217" cy="11343425"/>
          </a:xfrm>
        </p:grpSpPr>
        <p:grpSp>
          <p:nvGrpSpPr>
            <p:cNvPr id="15" name="Group 15"/>
            <p:cNvGrpSpPr/>
            <p:nvPr/>
          </p:nvGrpSpPr>
          <p:grpSpPr>
            <a:xfrm>
              <a:off x="285409" y="-583083"/>
              <a:ext cx="7931399" cy="11343425"/>
              <a:chOff x="0" y="-115177"/>
              <a:chExt cx="1566696" cy="2240677"/>
            </a:xfrm>
          </p:grpSpPr>
          <p:sp>
            <p:nvSpPr>
              <p:cNvPr id="16" name="Freeform 16"/>
              <p:cNvSpPr/>
              <p:nvPr/>
            </p:nvSpPr>
            <p:spPr>
              <a:xfrm>
                <a:off x="0" y="-115177"/>
                <a:ext cx="1566696" cy="2240677"/>
              </a:xfrm>
              <a:custGeom>
                <a:avLst/>
                <a:gdLst/>
                <a:ahLst/>
                <a:cxnLst/>
                <a:rect l="l" t="t" r="r" b="b"/>
                <a:pathLst>
                  <a:path w="1566696" h="1527057">
                    <a:moveTo>
                      <a:pt x="66376" y="0"/>
                    </a:moveTo>
                    <a:lnTo>
                      <a:pt x="1500321" y="0"/>
                    </a:lnTo>
                    <a:cubicBezTo>
                      <a:pt x="1536979" y="0"/>
                      <a:pt x="1566696" y="29717"/>
                      <a:pt x="1566696" y="66376"/>
                    </a:cubicBezTo>
                    <a:lnTo>
                      <a:pt x="1566696" y="1460681"/>
                    </a:lnTo>
                    <a:cubicBezTo>
                      <a:pt x="1566696" y="1497340"/>
                      <a:pt x="1536979" y="1527057"/>
                      <a:pt x="1500321" y="1527057"/>
                    </a:cubicBezTo>
                    <a:lnTo>
                      <a:pt x="66376" y="1527057"/>
                    </a:lnTo>
                    <a:cubicBezTo>
                      <a:pt x="29717" y="1527057"/>
                      <a:pt x="0" y="1497340"/>
                      <a:pt x="0" y="1460681"/>
                    </a:cubicBezTo>
                    <a:lnTo>
                      <a:pt x="0" y="66376"/>
                    </a:lnTo>
                    <a:cubicBezTo>
                      <a:pt x="0" y="29717"/>
                      <a:pt x="29717" y="0"/>
                      <a:pt x="66376" y="0"/>
                    </a:cubicBezTo>
                    <a:close/>
                  </a:path>
                </a:pathLst>
              </a:custGeom>
              <a:solidFill>
                <a:srgbClr val="A8B99A"/>
              </a:solidFill>
              <a:ln w="95250" cap="rnd">
                <a:solidFill>
                  <a:srgbClr val="222222"/>
                </a:solidFill>
                <a:prstDash val="solid"/>
                <a:round/>
              </a:ln>
            </p:spPr>
          </p:sp>
          <p:sp>
            <p:nvSpPr>
              <p:cNvPr id="17" name="TextBox 17"/>
              <p:cNvSpPr txBox="1"/>
              <p:nvPr/>
            </p:nvSpPr>
            <p:spPr>
              <a:xfrm>
                <a:off x="0" y="-38100"/>
                <a:ext cx="1566696" cy="1565157"/>
              </a:xfrm>
              <a:prstGeom prst="rect">
                <a:avLst/>
              </a:prstGeom>
            </p:spPr>
            <p:txBody>
              <a:bodyPr lIns="50800" tIns="50800" rIns="50800" bIns="50800" rtlCol="0" anchor="ctr"/>
              <a:lstStyle/>
              <a:p>
                <a:pPr algn="ctr">
                  <a:lnSpc>
                    <a:spcPts val="2609"/>
                  </a:lnSpc>
                </a:pPr>
                <a:endParaRPr/>
              </a:p>
            </p:txBody>
          </p:sp>
        </p:grpSp>
        <p:sp>
          <p:nvSpPr>
            <p:cNvPr id="18" name="TextBox 18"/>
            <p:cNvSpPr txBox="1"/>
            <p:nvPr/>
          </p:nvSpPr>
          <p:spPr>
            <a:xfrm>
              <a:off x="1656639" y="301186"/>
              <a:ext cx="5188939" cy="863600"/>
            </a:xfrm>
            <a:prstGeom prst="rect">
              <a:avLst/>
            </a:prstGeom>
          </p:spPr>
          <p:txBody>
            <a:bodyPr lIns="0" tIns="0" rIns="0" bIns="0" rtlCol="0" anchor="t">
              <a:spAutoFit/>
            </a:bodyPr>
            <a:lstStyle/>
            <a:p>
              <a:pPr algn="ctr">
                <a:lnSpc>
                  <a:spcPts val="3900"/>
                </a:lnSpc>
              </a:pPr>
              <a:r>
                <a:rPr lang="en-US" sz="5000" b="1">
                  <a:solidFill>
                    <a:srgbClr val="30432D"/>
                  </a:solidFill>
                  <a:latin typeface="Poppins Bold"/>
                  <a:ea typeface="Poppins Bold"/>
                  <a:cs typeface="Poppins Bold"/>
                  <a:sym typeface="Poppins Bold"/>
                </a:rPr>
                <a:t>FUNGSI</a:t>
              </a:r>
            </a:p>
          </p:txBody>
        </p:sp>
        <p:sp>
          <p:nvSpPr>
            <p:cNvPr id="19" name="TextBox 19"/>
            <p:cNvSpPr txBox="1"/>
            <p:nvPr/>
          </p:nvSpPr>
          <p:spPr>
            <a:xfrm>
              <a:off x="58255" y="1169592"/>
              <a:ext cx="8502217" cy="8547352"/>
            </a:xfrm>
            <a:prstGeom prst="rect">
              <a:avLst/>
            </a:prstGeom>
          </p:spPr>
          <p:txBody>
            <a:bodyPr wrap="square" lIns="0" tIns="0" rIns="0" bIns="0" rtlCol="0" anchor="t">
              <a:spAutoFit/>
            </a:bodyPr>
            <a:lstStyle/>
            <a:p>
              <a:pPr marL="647697" lvl="1" indent="-323848" algn="l">
                <a:lnSpc>
                  <a:spcPts val="4199"/>
                </a:lnSpc>
                <a:buFont typeface="Arial"/>
                <a:buChar char="•"/>
              </a:pPr>
              <a:r>
                <a:rPr lang="en-US" sz="2500" spc="-59" dirty="0" err="1">
                  <a:solidFill>
                    <a:srgbClr val="343434"/>
                  </a:solidFill>
                  <a:latin typeface="Jua"/>
                  <a:ea typeface="Jua"/>
                  <a:cs typeface="Jua"/>
                  <a:sym typeface="Jua"/>
                </a:rPr>
                <a:t>Mengolah</a:t>
              </a:r>
              <a:r>
                <a:rPr lang="en-US" sz="2500" spc="-59" dirty="0">
                  <a:solidFill>
                    <a:srgbClr val="343434"/>
                  </a:solidFill>
                  <a:latin typeface="Jua"/>
                  <a:ea typeface="Jua"/>
                  <a:cs typeface="Jua"/>
                  <a:sym typeface="Jua"/>
                </a:rPr>
                <a:t> Data </a:t>
              </a:r>
              <a:r>
                <a:rPr lang="en-US" sz="2500" spc="-59" dirty="0" err="1">
                  <a:solidFill>
                    <a:srgbClr val="343434"/>
                  </a:solidFill>
                  <a:latin typeface="Jua"/>
                  <a:ea typeface="Jua"/>
                  <a:cs typeface="Jua"/>
                  <a:sym typeface="Jua"/>
                </a:rPr>
                <a:t>Multidimensi</a:t>
              </a:r>
              <a:r>
                <a:rPr lang="en-US" sz="2500" spc="-59" dirty="0">
                  <a:solidFill>
                    <a:srgbClr val="343434"/>
                  </a:solidFill>
                  <a:latin typeface="Jua"/>
                  <a:ea typeface="Jua"/>
                  <a:cs typeface="Jua"/>
                  <a:sym typeface="Jua"/>
                </a:rPr>
                <a:t> :                                   </a:t>
              </a:r>
              <a:r>
                <a:rPr lang="en-US" sz="2500" spc="-59" dirty="0" err="1">
                  <a:solidFill>
                    <a:srgbClr val="343434"/>
                  </a:solidFill>
                  <a:latin typeface="Jua"/>
                  <a:ea typeface="Jua"/>
                  <a:cs typeface="Jua"/>
                  <a:sym typeface="Jua"/>
                </a:rPr>
                <a:t>Memproses</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struktur</a:t>
              </a:r>
              <a:r>
                <a:rPr lang="en-US" sz="2500" spc="-59" dirty="0">
                  <a:solidFill>
                    <a:srgbClr val="343434"/>
                  </a:solidFill>
                  <a:latin typeface="Jua"/>
                  <a:ea typeface="Jua"/>
                  <a:cs typeface="Jua"/>
                  <a:sym typeface="Jua"/>
                </a:rPr>
                <a:t> data yang </a:t>
              </a:r>
              <a:r>
                <a:rPr lang="en-US" sz="2500" spc="-59" dirty="0" err="1">
                  <a:solidFill>
                    <a:srgbClr val="343434"/>
                  </a:solidFill>
                  <a:latin typeface="Jua"/>
                  <a:ea typeface="Jua"/>
                  <a:cs typeface="Jua"/>
                  <a:sym typeface="Jua"/>
                </a:rPr>
                <a:t>memiliki</a:t>
              </a:r>
              <a:r>
                <a:rPr lang="en-US" sz="2500" spc="-59" dirty="0">
                  <a:solidFill>
                    <a:srgbClr val="343434"/>
                  </a:solidFill>
                  <a:latin typeface="Jua"/>
                  <a:ea typeface="Jua"/>
                  <a:cs typeface="Jua"/>
                  <a:sym typeface="Jua"/>
                </a:rPr>
                <a:t> baris dan </a:t>
              </a:r>
              <a:r>
                <a:rPr lang="en-US" sz="2500" spc="-59" dirty="0" err="1">
                  <a:solidFill>
                    <a:srgbClr val="343434"/>
                  </a:solidFill>
                  <a:latin typeface="Jua"/>
                  <a:ea typeface="Jua"/>
                  <a:cs typeface="Jua"/>
                  <a:sym typeface="Jua"/>
                </a:rPr>
                <a:t>kolom</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seperti</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tabel</a:t>
              </a:r>
              <a:r>
                <a:rPr lang="en-US" sz="2500" spc="-59" dirty="0">
                  <a:solidFill>
                    <a:srgbClr val="343434"/>
                  </a:solidFill>
                  <a:latin typeface="Jua"/>
                  <a:ea typeface="Jua"/>
                  <a:cs typeface="Jua"/>
                  <a:sym typeface="Jua"/>
                </a:rPr>
                <a:t>/</a:t>
              </a:r>
              <a:r>
                <a:rPr lang="en-US" sz="2500" spc="-59" dirty="0" err="1">
                  <a:solidFill>
                    <a:srgbClr val="343434"/>
                  </a:solidFill>
                  <a:latin typeface="Jua"/>
                  <a:ea typeface="Jua"/>
                  <a:cs typeface="Jua"/>
                  <a:sym typeface="Jua"/>
                </a:rPr>
                <a:t>matriks</a:t>
              </a:r>
              <a:r>
                <a:rPr lang="en-US" sz="2500" spc="-59" dirty="0">
                  <a:solidFill>
                    <a:srgbClr val="343434"/>
                  </a:solidFill>
                  <a:latin typeface="Jua"/>
                  <a:ea typeface="Jua"/>
                  <a:cs typeface="Jua"/>
                  <a:sym typeface="Jua"/>
                </a:rPr>
                <a:t>, data Excel.</a:t>
              </a:r>
            </a:p>
            <a:p>
              <a:pPr algn="l">
                <a:lnSpc>
                  <a:spcPts val="4199"/>
                </a:lnSpc>
              </a:pPr>
              <a:endParaRPr lang="en-US" sz="2500" spc="-59" dirty="0">
                <a:solidFill>
                  <a:srgbClr val="343434"/>
                </a:solidFill>
                <a:latin typeface="Jua"/>
                <a:ea typeface="Jua"/>
                <a:cs typeface="Jua"/>
                <a:sym typeface="Jua"/>
              </a:endParaRPr>
            </a:p>
            <a:p>
              <a:pPr marL="647697" lvl="1" indent="-323848" algn="l">
                <a:lnSpc>
                  <a:spcPts val="4199"/>
                </a:lnSpc>
                <a:buFont typeface="Arial"/>
                <a:buChar char="•"/>
              </a:pPr>
              <a:r>
                <a:rPr lang="en-US" sz="2500" spc="-59" dirty="0" err="1">
                  <a:solidFill>
                    <a:srgbClr val="343434"/>
                  </a:solidFill>
                  <a:latin typeface="Jua"/>
                  <a:ea typeface="Jua"/>
                  <a:cs typeface="Jua"/>
                  <a:sym typeface="Jua"/>
                </a:rPr>
                <a:t>Membuat</a:t>
              </a:r>
              <a:r>
                <a:rPr lang="en-US" sz="2500" spc="-59" dirty="0">
                  <a:solidFill>
                    <a:srgbClr val="343434"/>
                  </a:solidFill>
                  <a:latin typeface="Jua"/>
                  <a:ea typeface="Jua"/>
                  <a:cs typeface="Jua"/>
                  <a:sym typeface="Jua"/>
                </a:rPr>
                <a:t> Pola :                                                             </a:t>
              </a:r>
              <a:r>
                <a:rPr lang="en-US" sz="2500" spc="-59" dirty="0" err="1">
                  <a:solidFill>
                    <a:srgbClr val="343434"/>
                  </a:solidFill>
                  <a:latin typeface="Jua"/>
                  <a:ea typeface="Jua"/>
                  <a:cs typeface="Jua"/>
                  <a:sym typeface="Jua"/>
                </a:rPr>
                <a:t>Mencetak</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pola</a:t>
              </a:r>
              <a:r>
                <a:rPr lang="en-US" sz="2500" spc="-59" dirty="0">
                  <a:solidFill>
                    <a:srgbClr val="343434"/>
                  </a:solidFill>
                  <a:latin typeface="Jua"/>
                  <a:ea typeface="Jua"/>
                  <a:cs typeface="Jua"/>
                  <a:sym typeface="Jua"/>
                </a:rPr>
                <a:t> visual </a:t>
              </a:r>
              <a:r>
                <a:rPr lang="en-US" sz="2500" spc="-59" dirty="0" err="1">
                  <a:solidFill>
                    <a:srgbClr val="343434"/>
                  </a:solidFill>
                  <a:latin typeface="Jua"/>
                  <a:ea typeface="Jua"/>
                  <a:cs typeface="Jua"/>
                  <a:sym typeface="Jua"/>
                </a:rPr>
                <a:t>seperti</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segitiga</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angka</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bentuk</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bintang</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atau</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tabel</a:t>
              </a:r>
              <a:r>
                <a:rPr lang="en-US" sz="2500" spc="-59" dirty="0">
                  <a:solidFill>
                    <a:srgbClr val="343434"/>
                  </a:solidFill>
                  <a:latin typeface="Jua"/>
                  <a:ea typeface="Jua"/>
                  <a:cs typeface="Jua"/>
                  <a:sym typeface="Jua"/>
                </a:rPr>
                <a:t> </a:t>
              </a:r>
              <a:r>
                <a:rPr lang="en-US" sz="2500" spc="-59" dirty="0" err="1">
                  <a:solidFill>
                    <a:srgbClr val="343434"/>
                  </a:solidFill>
                  <a:latin typeface="Jua"/>
                  <a:ea typeface="Jua"/>
                  <a:cs typeface="Jua"/>
                  <a:sym typeface="Jua"/>
                </a:rPr>
                <a:t>perkalian</a:t>
              </a:r>
              <a:r>
                <a:rPr lang="en-US" sz="2500" spc="-59" dirty="0">
                  <a:solidFill>
                    <a:srgbClr val="343434"/>
                  </a:solidFill>
                  <a:latin typeface="Jua"/>
                  <a:ea typeface="Jua"/>
                  <a:cs typeface="Jua"/>
                  <a:sym typeface="Jua"/>
                </a:rPr>
                <a:t>.</a:t>
              </a:r>
            </a:p>
          </p:txBody>
        </p:sp>
      </p:grpSp>
      <p:sp>
        <p:nvSpPr>
          <p:cNvPr id="20" name="Freeform 20"/>
          <p:cNvSpPr/>
          <p:nvPr/>
        </p:nvSpPr>
        <p:spPr>
          <a:xfrm>
            <a:off x="15718463" y="7508018"/>
            <a:ext cx="2101341" cy="2101341"/>
          </a:xfrm>
          <a:custGeom>
            <a:avLst/>
            <a:gdLst/>
            <a:ahLst/>
            <a:cxnLst/>
            <a:rect l="l" t="t" r="r" b="b"/>
            <a:pathLst>
              <a:path w="2101341" h="2101341">
                <a:moveTo>
                  <a:pt x="0" y="0"/>
                </a:moveTo>
                <a:lnTo>
                  <a:pt x="2101341" y="0"/>
                </a:lnTo>
                <a:lnTo>
                  <a:pt x="2101341" y="2101341"/>
                </a:lnTo>
                <a:lnTo>
                  <a:pt x="0" y="2101341"/>
                </a:lnTo>
                <a:lnTo>
                  <a:pt x="0" y="0"/>
                </a:lnTo>
                <a:close/>
              </a:path>
            </a:pathLst>
          </a:custGeom>
          <a:blipFill>
            <a:blip r:embed="rId4"/>
            <a:stretch>
              <a:fillRect/>
            </a:stretch>
          </a:blipFill>
        </p:spPr>
      </p:sp>
      <p:sp>
        <p:nvSpPr>
          <p:cNvPr id="21" name="Freeform 21"/>
          <p:cNvSpPr/>
          <p:nvPr/>
        </p:nvSpPr>
        <p:spPr>
          <a:xfrm rot="-356108">
            <a:off x="7451243" y="2864018"/>
            <a:ext cx="2214677" cy="1802501"/>
          </a:xfrm>
          <a:custGeom>
            <a:avLst/>
            <a:gdLst/>
            <a:ahLst/>
            <a:cxnLst/>
            <a:rect l="l" t="t" r="r" b="b"/>
            <a:pathLst>
              <a:path w="2214677" h="1802501">
                <a:moveTo>
                  <a:pt x="0" y="0"/>
                </a:moveTo>
                <a:lnTo>
                  <a:pt x="2214677" y="0"/>
                </a:lnTo>
                <a:lnTo>
                  <a:pt x="2214677" y="1802501"/>
                </a:lnTo>
                <a:lnTo>
                  <a:pt x="0" y="1802501"/>
                </a:lnTo>
                <a:lnTo>
                  <a:pt x="0" y="0"/>
                </a:lnTo>
                <a:close/>
              </a:path>
            </a:pathLst>
          </a:custGeom>
          <a:blipFill>
            <a:blip r:embed="rId5"/>
            <a:stretch>
              <a:fillRect/>
            </a:stretch>
          </a:blipFill>
        </p:spPr>
      </p:sp>
      <p:sp>
        <p:nvSpPr>
          <p:cNvPr id="22" name="TextBox 22"/>
          <p:cNvSpPr txBox="1"/>
          <p:nvPr/>
        </p:nvSpPr>
        <p:spPr>
          <a:xfrm>
            <a:off x="646313" y="1523123"/>
            <a:ext cx="17058160" cy="1160574"/>
          </a:xfrm>
          <a:prstGeom prst="rect">
            <a:avLst/>
          </a:prstGeom>
        </p:spPr>
        <p:txBody>
          <a:bodyPr lIns="0" tIns="0" rIns="0" bIns="0" rtlCol="0" anchor="t">
            <a:spAutoFit/>
          </a:bodyPr>
          <a:lstStyle/>
          <a:p>
            <a:pPr algn="ctr">
              <a:lnSpc>
                <a:spcPts val="8969"/>
              </a:lnSpc>
            </a:pPr>
            <a:r>
              <a:rPr lang="en-US" sz="11499" dirty="0">
                <a:solidFill>
                  <a:srgbClr val="FFFFFF"/>
                </a:solidFill>
                <a:effectLst>
                  <a:innerShdw blurRad="63500" dist="50800" dir="10800000">
                    <a:prstClr val="black">
                      <a:alpha val="50000"/>
                    </a:prstClr>
                  </a:innerShdw>
                </a:effectLst>
                <a:latin typeface="Funtastic"/>
                <a:ea typeface="Funtastic"/>
                <a:cs typeface="Funtastic"/>
                <a:sym typeface="Funtastic"/>
              </a:rPr>
              <a:t>APA ITU NESTED LOOP?</a:t>
            </a:r>
          </a:p>
        </p:txBody>
      </p:sp>
      <p:sp>
        <p:nvSpPr>
          <p:cNvPr id="23" name="Freeform 23"/>
          <p:cNvSpPr/>
          <p:nvPr/>
        </p:nvSpPr>
        <p:spPr>
          <a:xfrm>
            <a:off x="429493" y="552921"/>
            <a:ext cx="2108931" cy="741602"/>
          </a:xfrm>
          <a:custGeom>
            <a:avLst/>
            <a:gdLst/>
            <a:ahLst/>
            <a:cxnLst/>
            <a:rect l="l" t="t" r="r" b="b"/>
            <a:pathLst>
              <a:path w="2108931" h="741602">
                <a:moveTo>
                  <a:pt x="0" y="0"/>
                </a:moveTo>
                <a:lnTo>
                  <a:pt x="2108931" y="0"/>
                </a:lnTo>
                <a:lnTo>
                  <a:pt x="2108931" y="741602"/>
                </a:lnTo>
                <a:lnTo>
                  <a:pt x="0" y="741602"/>
                </a:lnTo>
                <a:lnTo>
                  <a:pt x="0" y="0"/>
                </a:lnTo>
                <a:close/>
              </a:path>
            </a:pathLst>
          </a:custGeom>
          <a:blipFill>
            <a:blip r:embed="rId6">
              <a:alphaModFix amt="50000"/>
            </a:blip>
            <a:stretch>
              <a:fillRect/>
            </a:stretch>
          </a:blipFill>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319278" y="2301824"/>
            <a:ext cx="17454317" cy="6137782"/>
          </a:xfrm>
          <a:custGeom>
            <a:avLst/>
            <a:gdLst/>
            <a:ahLst/>
            <a:cxnLst/>
            <a:rect l="l" t="t" r="r" b="b"/>
            <a:pathLst>
              <a:path w="17454317" h="6137782">
                <a:moveTo>
                  <a:pt x="0" y="0"/>
                </a:moveTo>
                <a:lnTo>
                  <a:pt x="17454318" y="0"/>
                </a:lnTo>
                <a:lnTo>
                  <a:pt x="17454318" y="6137782"/>
                </a:lnTo>
                <a:lnTo>
                  <a:pt x="0" y="6137782"/>
                </a:lnTo>
                <a:lnTo>
                  <a:pt x="0" y="0"/>
                </a:lnTo>
                <a:close/>
              </a:path>
            </a:pathLst>
          </a:custGeom>
          <a:blipFill>
            <a:blip r:embed="rId4">
              <a:alphaModFix amt="37000"/>
            </a:blip>
            <a:stretch>
              <a:fillRect/>
            </a:stretch>
          </a:blipFill>
        </p:spPr>
      </p:sp>
      <p:grpSp>
        <p:nvGrpSpPr>
          <p:cNvPr id="6" name="Group 6"/>
          <p:cNvGrpSpPr/>
          <p:nvPr/>
        </p:nvGrpSpPr>
        <p:grpSpPr>
          <a:xfrm>
            <a:off x="736347" y="2456763"/>
            <a:ext cx="6075847" cy="6357046"/>
            <a:chOff x="0" y="0"/>
            <a:chExt cx="1994857" cy="2087182"/>
          </a:xfrm>
        </p:grpSpPr>
        <p:sp>
          <p:nvSpPr>
            <p:cNvPr id="7" name="Freeform 7"/>
            <p:cNvSpPr/>
            <p:nvPr/>
          </p:nvSpPr>
          <p:spPr>
            <a:xfrm>
              <a:off x="0" y="0"/>
              <a:ext cx="1994857" cy="2087182"/>
            </a:xfrm>
            <a:custGeom>
              <a:avLst/>
              <a:gdLst/>
              <a:ahLst/>
              <a:cxnLst/>
              <a:rect l="l" t="t" r="r" b="b"/>
              <a:pathLst>
                <a:path w="1994857" h="2087182">
                  <a:moveTo>
                    <a:pt x="64985" y="0"/>
                  </a:moveTo>
                  <a:lnTo>
                    <a:pt x="1929873" y="0"/>
                  </a:lnTo>
                  <a:cubicBezTo>
                    <a:pt x="1947108" y="0"/>
                    <a:pt x="1963637" y="6847"/>
                    <a:pt x="1975824" y="19034"/>
                  </a:cubicBezTo>
                  <a:cubicBezTo>
                    <a:pt x="1988011" y="31221"/>
                    <a:pt x="1994857" y="47750"/>
                    <a:pt x="1994857" y="64985"/>
                  </a:cubicBezTo>
                  <a:lnTo>
                    <a:pt x="1994857" y="2022197"/>
                  </a:lnTo>
                  <a:cubicBezTo>
                    <a:pt x="1994857" y="2039432"/>
                    <a:pt x="1988011" y="2055962"/>
                    <a:pt x="1975824" y="2068149"/>
                  </a:cubicBezTo>
                  <a:cubicBezTo>
                    <a:pt x="1963637" y="2080335"/>
                    <a:pt x="1947108" y="2087182"/>
                    <a:pt x="1929873" y="2087182"/>
                  </a:cubicBezTo>
                  <a:lnTo>
                    <a:pt x="64985" y="2087182"/>
                  </a:lnTo>
                  <a:cubicBezTo>
                    <a:pt x="29095" y="2087182"/>
                    <a:pt x="0" y="2058087"/>
                    <a:pt x="0" y="2022197"/>
                  </a:cubicBezTo>
                  <a:lnTo>
                    <a:pt x="0" y="64985"/>
                  </a:lnTo>
                  <a:cubicBezTo>
                    <a:pt x="0" y="29095"/>
                    <a:pt x="29095" y="0"/>
                    <a:pt x="64985" y="0"/>
                  </a:cubicBezTo>
                  <a:close/>
                </a:path>
              </a:pathLst>
            </a:custGeom>
            <a:solidFill>
              <a:srgbClr val="77BFD7"/>
            </a:solidFill>
            <a:ln w="95250" cap="rnd">
              <a:solidFill>
                <a:srgbClr val="222222"/>
              </a:solidFill>
              <a:prstDash val="solid"/>
              <a:round/>
            </a:ln>
          </p:spPr>
        </p:sp>
        <p:sp>
          <p:nvSpPr>
            <p:cNvPr id="8" name="TextBox 8"/>
            <p:cNvSpPr txBox="1"/>
            <p:nvPr/>
          </p:nvSpPr>
          <p:spPr>
            <a:xfrm>
              <a:off x="0" y="-38100"/>
              <a:ext cx="1994857" cy="2125282"/>
            </a:xfrm>
            <a:prstGeom prst="rect">
              <a:avLst/>
            </a:prstGeom>
          </p:spPr>
          <p:txBody>
            <a:bodyPr lIns="50800" tIns="50800" rIns="50800" bIns="50800" rtlCol="0" anchor="ctr"/>
            <a:lstStyle/>
            <a:p>
              <a:pPr algn="ctr">
                <a:lnSpc>
                  <a:spcPts val="2609"/>
                </a:lnSpc>
              </a:pPr>
              <a:endParaRPr/>
            </a:p>
          </p:txBody>
        </p:sp>
      </p:grpSp>
      <p:sp>
        <p:nvSpPr>
          <p:cNvPr id="9" name="TextBox 9"/>
          <p:cNvSpPr txBox="1"/>
          <p:nvPr/>
        </p:nvSpPr>
        <p:spPr>
          <a:xfrm>
            <a:off x="9638883" y="1181100"/>
            <a:ext cx="6838427" cy="1440459"/>
          </a:xfrm>
          <a:prstGeom prst="rect">
            <a:avLst/>
          </a:prstGeom>
        </p:spPr>
        <p:txBody>
          <a:bodyPr lIns="0" tIns="0" rIns="0" bIns="0" rtlCol="0" anchor="t">
            <a:spAutoFit/>
          </a:bodyPr>
          <a:lstStyle/>
          <a:p>
            <a:pPr algn="ctr">
              <a:lnSpc>
                <a:spcPts val="5586"/>
              </a:lnSpc>
            </a:pPr>
            <a:r>
              <a:rPr lang="en-US" sz="7162" dirty="0">
                <a:solidFill>
                  <a:srgbClr val="FFFFFF"/>
                </a:solidFill>
                <a:effectLst>
                  <a:innerShdw blurRad="114300">
                    <a:prstClr val="black"/>
                  </a:innerShdw>
                </a:effectLst>
                <a:latin typeface="Funtastic"/>
                <a:ea typeface="Funtastic"/>
                <a:cs typeface="Funtastic"/>
                <a:sym typeface="Funtastic"/>
              </a:rPr>
              <a:t>CARA KERJA SINTAKS</a:t>
            </a:r>
          </a:p>
        </p:txBody>
      </p:sp>
      <p:grpSp>
        <p:nvGrpSpPr>
          <p:cNvPr id="10" name="Group 10"/>
          <p:cNvGrpSpPr/>
          <p:nvPr/>
        </p:nvGrpSpPr>
        <p:grpSpPr>
          <a:xfrm>
            <a:off x="9638883" y="2636057"/>
            <a:ext cx="7620417" cy="6622243"/>
            <a:chOff x="0" y="0"/>
            <a:chExt cx="2501980" cy="2174253"/>
          </a:xfrm>
        </p:grpSpPr>
        <p:sp>
          <p:nvSpPr>
            <p:cNvPr id="11" name="Freeform 11"/>
            <p:cNvSpPr/>
            <p:nvPr/>
          </p:nvSpPr>
          <p:spPr>
            <a:xfrm>
              <a:off x="0" y="0"/>
              <a:ext cx="2501980" cy="2174253"/>
            </a:xfrm>
            <a:custGeom>
              <a:avLst/>
              <a:gdLst/>
              <a:ahLst/>
              <a:cxnLst/>
              <a:rect l="l" t="t" r="r" b="b"/>
              <a:pathLst>
                <a:path w="2501980" h="2174253">
                  <a:moveTo>
                    <a:pt x="51813" y="0"/>
                  </a:moveTo>
                  <a:lnTo>
                    <a:pt x="2450167" y="0"/>
                  </a:lnTo>
                  <a:cubicBezTo>
                    <a:pt x="2478782" y="0"/>
                    <a:pt x="2501980" y="23198"/>
                    <a:pt x="2501980" y="51813"/>
                  </a:cubicBezTo>
                  <a:lnTo>
                    <a:pt x="2501980" y="2122440"/>
                  </a:lnTo>
                  <a:cubicBezTo>
                    <a:pt x="2501980" y="2151056"/>
                    <a:pt x="2478782" y="2174253"/>
                    <a:pt x="2450167" y="2174253"/>
                  </a:cubicBezTo>
                  <a:lnTo>
                    <a:pt x="51813" y="2174253"/>
                  </a:lnTo>
                  <a:cubicBezTo>
                    <a:pt x="23198" y="2174253"/>
                    <a:pt x="0" y="2151056"/>
                    <a:pt x="0" y="2122440"/>
                  </a:cubicBezTo>
                  <a:lnTo>
                    <a:pt x="0" y="51813"/>
                  </a:lnTo>
                  <a:cubicBezTo>
                    <a:pt x="0" y="23198"/>
                    <a:pt x="23198" y="0"/>
                    <a:pt x="51813" y="0"/>
                  </a:cubicBezTo>
                  <a:close/>
                </a:path>
              </a:pathLst>
            </a:custGeom>
            <a:solidFill>
              <a:srgbClr val="77BFD7"/>
            </a:solidFill>
            <a:ln w="95250" cap="rnd">
              <a:solidFill>
                <a:srgbClr val="222222"/>
              </a:solidFill>
              <a:prstDash val="solid"/>
              <a:round/>
            </a:ln>
          </p:spPr>
        </p:sp>
        <p:sp>
          <p:nvSpPr>
            <p:cNvPr id="12" name="TextBox 12"/>
            <p:cNvSpPr txBox="1"/>
            <p:nvPr/>
          </p:nvSpPr>
          <p:spPr>
            <a:xfrm>
              <a:off x="0" y="-38100"/>
              <a:ext cx="2501980" cy="2212353"/>
            </a:xfrm>
            <a:prstGeom prst="rect">
              <a:avLst/>
            </a:prstGeom>
          </p:spPr>
          <p:txBody>
            <a:bodyPr lIns="50800" tIns="50800" rIns="50800" bIns="50800" rtlCol="0" anchor="ctr"/>
            <a:lstStyle/>
            <a:p>
              <a:pPr algn="ctr">
                <a:lnSpc>
                  <a:spcPts val="2609"/>
                </a:lnSpc>
              </a:pPr>
              <a:endParaRPr/>
            </a:p>
          </p:txBody>
        </p:sp>
      </p:grpSp>
      <p:sp>
        <p:nvSpPr>
          <p:cNvPr id="13" name="TextBox 13"/>
          <p:cNvSpPr txBox="1"/>
          <p:nvPr/>
        </p:nvSpPr>
        <p:spPr>
          <a:xfrm>
            <a:off x="995504" y="2621559"/>
            <a:ext cx="5557532" cy="5639493"/>
          </a:xfrm>
          <a:prstGeom prst="rect">
            <a:avLst/>
          </a:prstGeom>
        </p:spPr>
        <p:txBody>
          <a:bodyPr wrap="square" lIns="0" tIns="0" rIns="0" bIns="0" rtlCol="0" anchor="t">
            <a:spAutoFit/>
          </a:bodyPr>
          <a:lstStyle/>
          <a:p>
            <a:pPr algn="l">
              <a:lnSpc>
                <a:spcPts val="5628"/>
              </a:lnSpc>
            </a:pPr>
            <a:r>
              <a:rPr lang="en-US" sz="3000" spc="-80" dirty="0">
                <a:solidFill>
                  <a:srgbClr val="000000"/>
                </a:solidFill>
                <a:latin typeface="Jua"/>
                <a:ea typeface="Jua"/>
                <a:cs typeface="Jua"/>
                <a:sym typeface="Jua"/>
              </a:rPr>
              <a:t> # </a:t>
            </a:r>
            <a:r>
              <a:rPr lang="en-US" sz="3000" spc="-80" dirty="0" err="1">
                <a:solidFill>
                  <a:srgbClr val="000000"/>
                </a:solidFill>
                <a:latin typeface="Jua"/>
                <a:ea typeface="Jua"/>
                <a:cs typeface="Jua"/>
                <a:sym typeface="Jua"/>
              </a:rPr>
              <a:t>Perulangan</a:t>
            </a:r>
            <a:r>
              <a:rPr lang="en-US" sz="3000" spc="-80" dirty="0">
                <a:solidFill>
                  <a:srgbClr val="000000"/>
                </a:solidFill>
                <a:latin typeface="Jua"/>
                <a:ea typeface="Jua"/>
                <a:cs typeface="Jua"/>
                <a:sym typeface="Jua"/>
              </a:rPr>
              <a:t> </a:t>
            </a:r>
            <a:r>
              <a:rPr lang="en-US" sz="3000" spc="-80" dirty="0" err="1">
                <a:solidFill>
                  <a:srgbClr val="000000"/>
                </a:solidFill>
                <a:latin typeface="Jua"/>
                <a:ea typeface="Jua"/>
                <a:cs typeface="Jua"/>
                <a:sym typeface="Jua"/>
              </a:rPr>
              <a:t>luar</a:t>
            </a:r>
            <a:r>
              <a:rPr lang="en-US" sz="3000" spc="-80" dirty="0">
                <a:solidFill>
                  <a:srgbClr val="000000"/>
                </a:solidFill>
                <a:latin typeface="Jua"/>
                <a:ea typeface="Jua"/>
                <a:cs typeface="Jua"/>
                <a:sym typeface="Jua"/>
              </a:rPr>
              <a:t> (Outer loop)</a:t>
            </a:r>
          </a:p>
          <a:p>
            <a:pPr algn="l">
              <a:lnSpc>
                <a:spcPts val="5628"/>
              </a:lnSpc>
            </a:pPr>
            <a:r>
              <a:rPr lang="en-US" sz="3000" spc="-80" dirty="0">
                <a:solidFill>
                  <a:srgbClr val="000000"/>
                </a:solidFill>
                <a:latin typeface="Jua"/>
                <a:ea typeface="Jua"/>
                <a:cs typeface="Jua"/>
                <a:sym typeface="Jua"/>
              </a:rPr>
              <a:t>for </a:t>
            </a:r>
            <a:r>
              <a:rPr lang="en-US" sz="3000" spc="-80" dirty="0" err="1">
                <a:solidFill>
                  <a:srgbClr val="000000"/>
                </a:solidFill>
                <a:latin typeface="Jua"/>
                <a:ea typeface="Jua"/>
                <a:cs typeface="Jua"/>
                <a:sym typeface="Jua"/>
              </a:rPr>
              <a:t>i</a:t>
            </a:r>
            <a:r>
              <a:rPr lang="en-US" sz="3000" spc="-80" dirty="0">
                <a:solidFill>
                  <a:srgbClr val="000000"/>
                </a:solidFill>
                <a:latin typeface="Jua"/>
                <a:ea typeface="Jua"/>
                <a:cs typeface="Jua"/>
                <a:sym typeface="Jua"/>
              </a:rPr>
              <a:t> in range(3): </a:t>
            </a:r>
          </a:p>
          <a:p>
            <a:pPr algn="l">
              <a:lnSpc>
                <a:spcPts val="5628"/>
              </a:lnSpc>
            </a:pPr>
            <a:r>
              <a:rPr lang="en-US" sz="3000" spc="-80" dirty="0">
                <a:solidFill>
                  <a:srgbClr val="000000"/>
                </a:solidFill>
                <a:latin typeface="Jua"/>
                <a:ea typeface="Jua"/>
                <a:cs typeface="Jua"/>
                <a:sym typeface="Jua"/>
              </a:rPr>
              <a:t>    # </a:t>
            </a:r>
            <a:r>
              <a:rPr lang="en-US" sz="3000" spc="-80" dirty="0" err="1">
                <a:solidFill>
                  <a:srgbClr val="000000"/>
                </a:solidFill>
                <a:latin typeface="Jua"/>
                <a:ea typeface="Jua"/>
                <a:cs typeface="Jua"/>
                <a:sym typeface="Jua"/>
              </a:rPr>
              <a:t>Perulangan</a:t>
            </a:r>
            <a:r>
              <a:rPr lang="en-US" sz="3000" spc="-80" dirty="0">
                <a:solidFill>
                  <a:srgbClr val="000000"/>
                </a:solidFill>
                <a:latin typeface="Jua"/>
                <a:ea typeface="Jua"/>
                <a:cs typeface="Jua"/>
                <a:sym typeface="Jua"/>
              </a:rPr>
              <a:t> </a:t>
            </a:r>
            <a:r>
              <a:rPr lang="en-US" sz="3000" spc="-80" dirty="0" err="1">
                <a:solidFill>
                  <a:srgbClr val="000000"/>
                </a:solidFill>
                <a:latin typeface="Jua"/>
                <a:ea typeface="Jua"/>
                <a:cs typeface="Jua"/>
                <a:sym typeface="Jua"/>
              </a:rPr>
              <a:t>dalam</a:t>
            </a:r>
            <a:r>
              <a:rPr lang="en-US" sz="3000" spc="-80" dirty="0">
                <a:solidFill>
                  <a:srgbClr val="000000"/>
                </a:solidFill>
                <a:latin typeface="Jua"/>
                <a:ea typeface="Jua"/>
                <a:cs typeface="Jua"/>
                <a:sym typeface="Jua"/>
              </a:rPr>
              <a:t> (Inner loop)</a:t>
            </a:r>
          </a:p>
          <a:p>
            <a:pPr algn="l">
              <a:lnSpc>
                <a:spcPts val="5628"/>
              </a:lnSpc>
            </a:pPr>
            <a:r>
              <a:rPr lang="en-US" sz="3000" spc="-80" dirty="0">
                <a:solidFill>
                  <a:srgbClr val="000000"/>
                </a:solidFill>
                <a:latin typeface="Jua"/>
                <a:ea typeface="Jua"/>
                <a:cs typeface="Jua"/>
                <a:sym typeface="Jua"/>
              </a:rPr>
              <a:t>    for j in range(2): </a:t>
            </a:r>
          </a:p>
          <a:p>
            <a:pPr algn="l">
              <a:lnSpc>
                <a:spcPts val="5628"/>
              </a:lnSpc>
            </a:pPr>
            <a:r>
              <a:rPr lang="en-US" sz="3000" spc="-80" dirty="0">
                <a:solidFill>
                  <a:srgbClr val="000000"/>
                </a:solidFill>
                <a:latin typeface="Jua"/>
                <a:ea typeface="Jua"/>
                <a:cs typeface="Jua"/>
                <a:sym typeface="Jua"/>
              </a:rPr>
              <a:t>        print(</a:t>
            </a:r>
            <a:r>
              <a:rPr lang="en-US" sz="3000" spc="-80" dirty="0" err="1">
                <a:solidFill>
                  <a:srgbClr val="000000"/>
                </a:solidFill>
                <a:latin typeface="Jua"/>
                <a:ea typeface="Jua"/>
                <a:cs typeface="Jua"/>
                <a:sym typeface="Jua"/>
              </a:rPr>
              <a:t>f"Baris</a:t>
            </a:r>
            <a:r>
              <a:rPr lang="en-US" sz="3000" spc="-80" dirty="0">
                <a:solidFill>
                  <a:srgbClr val="000000"/>
                </a:solidFill>
                <a:latin typeface="Jua"/>
                <a:ea typeface="Jua"/>
                <a:cs typeface="Jua"/>
                <a:sym typeface="Jua"/>
              </a:rPr>
              <a:t> </a:t>
            </a:r>
            <a:r>
              <a:rPr lang="en-US" sz="3000" spc="-80" dirty="0" err="1">
                <a:solidFill>
                  <a:srgbClr val="000000"/>
                </a:solidFill>
                <a:latin typeface="Jua"/>
                <a:ea typeface="Jua"/>
                <a:cs typeface="Jua"/>
                <a:sym typeface="Jua"/>
              </a:rPr>
              <a:t>ke</a:t>
            </a:r>
            <a:r>
              <a:rPr lang="en-US" sz="3000" spc="-80" dirty="0">
                <a:solidFill>
                  <a:srgbClr val="000000"/>
                </a:solidFill>
                <a:latin typeface="Jua"/>
                <a:ea typeface="Jua"/>
                <a:cs typeface="Jua"/>
                <a:sym typeface="Jua"/>
              </a:rPr>
              <a:t>-{</a:t>
            </a:r>
            <a:r>
              <a:rPr lang="en-US" sz="3000" spc="-80" dirty="0" err="1">
                <a:solidFill>
                  <a:srgbClr val="000000"/>
                </a:solidFill>
                <a:latin typeface="Jua"/>
                <a:ea typeface="Jua"/>
                <a:cs typeface="Jua"/>
                <a:sym typeface="Jua"/>
              </a:rPr>
              <a:t>i</a:t>
            </a:r>
            <a:r>
              <a:rPr lang="en-US" sz="3000" spc="-80" dirty="0">
                <a:solidFill>
                  <a:srgbClr val="000000"/>
                </a:solidFill>
                <a:latin typeface="Jua"/>
                <a:ea typeface="Jua"/>
                <a:cs typeface="Jua"/>
                <a:sym typeface="Jua"/>
              </a:rPr>
              <a:t>}, Kolom </a:t>
            </a:r>
            <a:r>
              <a:rPr lang="en-US" sz="3000" spc="-80" dirty="0" err="1">
                <a:solidFill>
                  <a:srgbClr val="000000"/>
                </a:solidFill>
                <a:latin typeface="Jua"/>
                <a:ea typeface="Jua"/>
                <a:cs typeface="Jua"/>
                <a:sym typeface="Jua"/>
              </a:rPr>
              <a:t>ke</a:t>
            </a:r>
            <a:r>
              <a:rPr lang="en-US" sz="3000" spc="-80" dirty="0">
                <a:solidFill>
                  <a:srgbClr val="000000"/>
                </a:solidFill>
                <a:latin typeface="Jua"/>
                <a:ea typeface="Jua"/>
                <a:cs typeface="Jua"/>
                <a:sym typeface="Jua"/>
              </a:rPr>
              <a:t>-{j}")</a:t>
            </a:r>
          </a:p>
        </p:txBody>
      </p:sp>
      <p:sp>
        <p:nvSpPr>
          <p:cNvPr id="14" name="TextBox 14"/>
          <p:cNvSpPr txBox="1"/>
          <p:nvPr/>
        </p:nvSpPr>
        <p:spPr>
          <a:xfrm>
            <a:off x="319278" y="1359315"/>
            <a:ext cx="6909984" cy="722121"/>
          </a:xfrm>
          <a:prstGeom prst="rect">
            <a:avLst/>
          </a:prstGeom>
        </p:spPr>
        <p:txBody>
          <a:bodyPr lIns="0" tIns="0" rIns="0" bIns="0" rtlCol="0" anchor="t">
            <a:spAutoFit/>
          </a:bodyPr>
          <a:lstStyle/>
          <a:p>
            <a:pPr algn="l">
              <a:lnSpc>
                <a:spcPts val="5581"/>
              </a:lnSpc>
            </a:pPr>
            <a:r>
              <a:rPr lang="en-US" sz="7155" dirty="0">
                <a:solidFill>
                  <a:srgbClr val="FFFFFF"/>
                </a:solidFill>
                <a:effectLst>
                  <a:innerShdw blurRad="114300">
                    <a:prstClr val="black"/>
                  </a:innerShdw>
                </a:effectLst>
                <a:latin typeface="Funtastic"/>
                <a:ea typeface="Funtastic"/>
                <a:cs typeface="Funtastic"/>
                <a:sym typeface="Funtastic"/>
              </a:rPr>
              <a:t>SINTAKS DASAR</a:t>
            </a:r>
          </a:p>
        </p:txBody>
      </p:sp>
      <p:sp>
        <p:nvSpPr>
          <p:cNvPr id="15" name="TextBox 15"/>
          <p:cNvSpPr txBox="1"/>
          <p:nvPr/>
        </p:nvSpPr>
        <p:spPr>
          <a:xfrm>
            <a:off x="9806504" y="2803111"/>
            <a:ext cx="7253876" cy="6010698"/>
          </a:xfrm>
          <a:prstGeom prst="rect">
            <a:avLst/>
          </a:prstGeom>
        </p:spPr>
        <p:txBody>
          <a:bodyPr lIns="0" tIns="0" rIns="0" bIns="0" rtlCol="0" anchor="t">
            <a:spAutoFit/>
          </a:bodyPr>
          <a:lstStyle/>
          <a:p>
            <a:pPr algn="l">
              <a:lnSpc>
                <a:spcPts val="3964"/>
              </a:lnSpc>
            </a:pPr>
            <a:r>
              <a:rPr lang="en-US" sz="2832" spc="-56">
                <a:solidFill>
                  <a:srgbClr val="000000"/>
                </a:solidFill>
                <a:latin typeface="Jua"/>
                <a:ea typeface="Jua"/>
                <a:cs typeface="Jua"/>
                <a:sym typeface="Jua"/>
              </a:rPr>
              <a:t>1. Program perulangan bergantung dari kita mau melakukan perulanganya, contoh jika kita mau perulangan tiga kali maka i = 3,begitu juga dengan perulangan dalamnya</a:t>
            </a:r>
          </a:p>
          <a:p>
            <a:pPr algn="l">
              <a:lnSpc>
                <a:spcPts val="3964"/>
              </a:lnSpc>
            </a:pPr>
            <a:r>
              <a:rPr lang="en-US" sz="2832" spc="-56">
                <a:solidFill>
                  <a:srgbClr val="000000"/>
                </a:solidFill>
                <a:latin typeface="Jua"/>
                <a:ea typeface="Jua"/>
                <a:cs typeface="Jua"/>
                <a:sym typeface="Jua"/>
              </a:rPr>
              <a:t>2. lalu masuk ke perulangan pertama dimana dimulai dari i=0</a:t>
            </a:r>
          </a:p>
          <a:p>
            <a:pPr algn="l">
              <a:lnSpc>
                <a:spcPts val="3964"/>
              </a:lnSpc>
            </a:pPr>
            <a:r>
              <a:rPr lang="en-US" sz="2832" spc="-56">
                <a:solidFill>
                  <a:srgbClr val="000000"/>
                </a:solidFill>
                <a:latin typeface="Jua"/>
                <a:ea typeface="Jua"/>
                <a:cs typeface="Jua"/>
                <a:sym typeface="Jua"/>
              </a:rPr>
              <a:t>3. Setelah itu masuk ke perulangan dalam dimana dimulai juga dari 0 seperti perulangan luar tapi perbedaan perulangan dalam harus sampai selesai baru lanjut ke perulangan luar</a:t>
            </a:r>
          </a:p>
          <a:p>
            <a:pPr algn="l">
              <a:lnSpc>
                <a:spcPts val="3964"/>
              </a:lnSpc>
            </a:pPr>
            <a:r>
              <a:rPr lang="en-US" sz="2832" spc="-56">
                <a:solidFill>
                  <a:srgbClr val="000000"/>
                </a:solidFill>
                <a:latin typeface="Jua"/>
                <a:ea typeface="Jua"/>
                <a:cs typeface="Jua"/>
                <a:sym typeface="Jua"/>
              </a:rPr>
              <a:t>4. Dan lanjut melakukan perulangan sampai sesuai inputan kita.</a:t>
            </a:r>
          </a:p>
        </p:txBody>
      </p:sp>
      <p:sp>
        <p:nvSpPr>
          <p:cNvPr id="16" name="Freeform 16"/>
          <p:cNvSpPr/>
          <p:nvPr/>
        </p:nvSpPr>
        <p:spPr>
          <a:xfrm>
            <a:off x="5860338" y="7511661"/>
            <a:ext cx="1881662" cy="2928567"/>
          </a:xfrm>
          <a:custGeom>
            <a:avLst/>
            <a:gdLst/>
            <a:ahLst/>
            <a:cxnLst/>
            <a:rect l="l" t="t" r="r" b="b"/>
            <a:pathLst>
              <a:path w="1881662" h="2928567">
                <a:moveTo>
                  <a:pt x="0" y="0"/>
                </a:moveTo>
                <a:lnTo>
                  <a:pt x="1881663" y="0"/>
                </a:lnTo>
                <a:lnTo>
                  <a:pt x="1881663" y="2928568"/>
                </a:lnTo>
                <a:lnTo>
                  <a:pt x="0" y="2928568"/>
                </a:lnTo>
                <a:lnTo>
                  <a:pt x="0" y="0"/>
                </a:lnTo>
                <a:close/>
              </a:path>
            </a:pathLst>
          </a:custGeom>
          <a:blipFill>
            <a:blip r:embed="rId5"/>
            <a:stretch>
              <a:fillRect/>
            </a:stretch>
          </a:blipFill>
        </p:spPr>
      </p:sp>
      <p:sp>
        <p:nvSpPr>
          <p:cNvPr id="17" name="Freeform 17"/>
          <p:cNvSpPr/>
          <p:nvPr/>
        </p:nvSpPr>
        <p:spPr>
          <a:xfrm>
            <a:off x="15323860" y="447575"/>
            <a:ext cx="2606782" cy="2606782"/>
          </a:xfrm>
          <a:custGeom>
            <a:avLst/>
            <a:gdLst/>
            <a:ahLst/>
            <a:cxnLst/>
            <a:rect l="l" t="t" r="r" b="b"/>
            <a:pathLst>
              <a:path w="2606782" h="2606782">
                <a:moveTo>
                  <a:pt x="0" y="0"/>
                </a:moveTo>
                <a:lnTo>
                  <a:pt x="2606782" y="0"/>
                </a:lnTo>
                <a:lnTo>
                  <a:pt x="2606782" y="2606782"/>
                </a:lnTo>
                <a:lnTo>
                  <a:pt x="0" y="2606782"/>
                </a:lnTo>
                <a:lnTo>
                  <a:pt x="0" y="0"/>
                </a:lnTo>
                <a:close/>
              </a:path>
            </a:pathLst>
          </a:custGeom>
          <a:blipFill>
            <a:blip r:embed="rId6"/>
            <a:stretch>
              <a:fillRect/>
            </a:stretch>
          </a:blipFill>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540293" y="-132338"/>
            <a:ext cx="21673387" cy="10856475"/>
            <a:chOff x="0" y="0"/>
            <a:chExt cx="28897849" cy="14475300"/>
          </a:xfrm>
        </p:grpSpPr>
        <p:sp>
          <p:nvSpPr>
            <p:cNvPr id="6" name="Freeform 6"/>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4">
                <a:alphaModFix amt="6999"/>
              </a:blip>
              <a:stretch>
                <a:fillRect/>
              </a:stretch>
            </a:blipFill>
          </p:spPr>
        </p:sp>
        <p:sp>
          <p:nvSpPr>
            <p:cNvPr id="7" name="Freeform 7"/>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8" name="Group 8"/>
          <p:cNvGrpSpPr/>
          <p:nvPr/>
        </p:nvGrpSpPr>
        <p:grpSpPr>
          <a:xfrm>
            <a:off x="7135529" y="2689121"/>
            <a:ext cx="9730712" cy="6728957"/>
            <a:chOff x="0" y="0"/>
            <a:chExt cx="3492864" cy="2415377"/>
          </a:xfrm>
        </p:grpSpPr>
        <p:sp>
          <p:nvSpPr>
            <p:cNvPr id="9" name="Freeform 9"/>
            <p:cNvSpPr/>
            <p:nvPr/>
          </p:nvSpPr>
          <p:spPr>
            <a:xfrm>
              <a:off x="0" y="0"/>
              <a:ext cx="3492864" cy="2415377"/>
            </a:xfrm>
            <a:custGeom>
              <a:avLst/>
              <a:gdLst/>
              <a:ahLst/>
              <a:cxnLst/>
              <a:rect l="l" t="t" r="r" b="b"/>
              <a:pathLst>
                <a:path w="3492864" h="2415377">
                  <a:moveTo>
                    <a:pt x="40576" y="0"/>
                  </a:moveTo>
                  <a:lnTo>
                    <a:pt x="3452288" y="0"/>
                  </a:lnTo>
                  <a:cubicBezTo>
                    <a:pt x="3474698" y="0"/>
                    <a:pt x="3492864" y="18167"/>
                    <a:pt x="3492864" y="40576"/>
                  </a:cubicBezTo>
                  <a:lnTo>
                    <a:pt x="3492864" y="2374801"/>
                  </a:lnTo>
                  <a:cubicBezTo>
                    <a:pt x="3492864" y="2397210"/>
                    <a:pt x="3474698" y="2415377"/>
                    <a:pt x="3452288" y="2415377"/>
                  </a:cubicBezTo>
                  <a:lnTo>
                    <a:pt x="40576" y="2415377"/>
                  </a:lnTo>
                  <a:cubicBezTo>
                    <a:pt x="18167" y="2415377"/>
                    <a:pt x="0" y="2397210"/>
                    <a:pt x="0" y="2374801"/>
                  </a:cubicBezTo>
                  <a:lnTo>
                    <a:pt x="0" y="40576"/>
                  </a:lnTo>
                  <a:cubicBezTo>
                    <a:pt x="0" y="18167"/>
                    <a:pt x="18167" y="0"/>
                    <a:pt x="40576" y="0"/>
                  </a:cubicBezTo>
                  <a:close/>
                </a:path>
              </a:pathLst>
            </a:custGeom>
            <a:solidFill>
              <a:srgbClr val="77BFD7"/>
            </a:solidFill>
            <a:ln w="95250" cap="rnd">
              <a:solidFill>
                <a:srgbClr val="222222"/>
              </a:solidFill>
              <a:prstDash val="solid"/>
              <a:round/>
            </a:ln>
          </p:spPr>
        </p:sp>
        <p:sp>
          <p:nvSpPr>
            <p:cNvPr id="10" name="TextBox 10"/>
            <p:cNvSpPr txBox="1"/>
            <p:nvPr/>
          </p:nvSpPr>
          <p:spPr>
            <a:xfrm>
              <a:off x="0" y="-38100"/>
              <a:ext cx="3492864" cy="2453477"/>
            </a:xfrm>
            <a:prstGeom prst="rect">
              <a:avLst/>
            </a:prstGeom>
          </p:spPr>
          <p:txBody>
            <a:bodyPr lIns="50800" tIns="50800" rIns="50800" bIns="50800" rtlCol="0" anchor="ctr"/>
            <a:lstStyle/>
            <a:p>
              <a:pPr algn="ctr">
                <a:lnSpc>
                  <a:spcPts val="2609"/>
                </a:lnSpc>
              </a:pPr>
              <a:endParaRPr/>
            </a:p>
          </p:txBody>
        </p:sp>
      </p:grpSp>
      <p:sp>
        <p:nvSpPr>
          <p:cNvPr id="11" name="Freeform 11"/>
          <p:cNvSpPr/>
          <p:nvPr/>
        </p:nvSpPr>
        <p:spPr>
          <a:xfrm>
            <a:off x="471245" y="3900775"/>
            <a:ext cx="6240564" cy="6240564"/>
          </a:xfrm>
          <a:custGeom>
            <a:avLst/>
            <a:gdLst/>
            <a:ahLst/>
            <a:cxnLst/>
            <a:rect l="l" t="t" r="r" b="b"/>
            <a:pathLst>
              <a:path w="6240564" h="6240564">
                <a:moveTo>
                  <a:pt x="0" y="0"/>
                </a:moveTo>
                <a:lnTo>
                  <a:pt x="6240564" y="0"/>
                </a:lnTo>
                <a:lnTo>
                  <a:pt x="6240564" y="6240564"/>
                </a:lnTo>
                <a:lnTo>
                  <a:pt x="0" y="6240564"/>
                </a:lnTo>
                <a:lnTo>
                  <a:pt x="0" y="0"/>
                </a:lnTo>
                <a:close/>
              </a:path>
            </a:pathLst>
          </a:custGeom>
          <a:blipFill>
            <a:blip r:embed="rId5"/>
            <a:stretch>
              <a:fillRect/>
            </a:stretch>
          </a:blipFill>
        </p:spPr>
      </p:sp>
      <p:sp>
        <p:nvSpPr>
          <p:cNvPr id="12" name="TextBox 12"/>
          <p:cNvSpPr txBox="1"/>
          <p:nvPr/>
        </p:nvSpPr>
        <p:spPr>
          <a:xfrm>
            <a:off x="8954026" y="609381"/>
            <a:ext cx="8681862" cy="1801519"/>
          </a:xfrm>
          <a:prstGeom prst="rect">
            <a:avLst/>
          </a:prstGeom>
        </p:spPr>
        <p:txBody>
          <a:bodyPr lIns="0" tIns="0" rIns="0" bIns="0" rtlCol="0" anchor="t">
            <a:spAutoFit/>
          </a:bodyPr>
          <a:lstStyle/>
          <a:p>
            <a:pPr algn="ctr">
              <a:lnSpc>
                <a:spcPts val="7012"/>
              </a:lnSpc>
            </a:pPr>
            <a:r>
              <a:rPr lang="en-US" sz="8990" dirty="0">
                <a:solidFill>
                  <a:srgbClr val="FFFFFF"/>
                </a:solidFill>
                <a:effectLst>
                  <a:innerShdw blurRad="114300">
                    <a:prstClr val="black"/>
                  </a:innerShdw>
                </a:effectLst>
                <a:latin typeface="Funtastic"/>
                <a:ea typeface="Funtastic"/>
                <a:cs typeface="Funtastic"/>
                <a:sym typeface="Funtastic"/>
              </a:rPr>
              <a:t>CARA KERJA PELUANGAN</a:t>
            </a:r>
          </a:p>
        </p:txBody>
      </p:sp>
      <p:sp>
        <p:nvSpPr>
          <p:cNvPr id="13" name="TextBox 13"/>
          <p:cNvSpPr txBox="1"/>
          <p:nvPr/>
        </p:nvSpPr>
        <p:spPr>
          <a:xfrm>
            <a:off x="7373831" y="3175102"/>
            <a:ext cx="8695592" cy="7549036"/>
          </a:xfrm>
          <a:prstGeom prst="rect">
            <a:avLst/>
          </a:prstGeom>
        </p:spPr>
        <p:txBody>
          <a:bodyPr lIns="0" tIns="0" rIns="0" bIns="0" rtlCol="0" anchor="t">
            <a:spAutoFit/>
          </a:bodyPr>
          <a:lstStyle/>
          <a:p>
            <a:pPr algn="l">
              <a:lnSpc>
                <a:spcPts val="4927"/>
              </a:lnSpc>
            </a:pPr>
            <a:r>
              <a:rPr lang="en-US" sz="3519" spc="-70">
                <a:solidFill>
                  <a:srgbClr val="000000"/>
                </a:solidFill>
                <a:latin typeface="Jua"/>
                <a:ea typeface="Jua"/>
                <a:cs typeface="Jua"/>
                <a:sym typeface="Jua"/>
              </a:rPr>
              <a:t>Pola bintang siku-siku bekerja menggunakan perulangan bersarang (nested loop), di mana perulangan luar menentukan jumlah baris ke bawah, sementara perulangan dalam mencetak jumlah bintang ke samping yang jumlahnya selalu mengikuti nomor baris saat itu (misalnya, baris ketiga akan mencetak tiga bintang), lalu berpindah baris baru hingga seluruh pola selesai terbentuk.</a:t>
            </a:r>
          </a:p>
          <a:p>
            <a:pPr algn="l">
              <a:lnSpc>
                <a:spcPts val="4927"/>
              </a:lnSpc>
            </a:pPr>
            <a:endParaRPr lang="en-US" sz="3519" spc="-70">
              <a:solidFill>
                <a:srgbClr val="000000"/>
              </a:solidFill>
              <a:latin typeface="Jua"/>
              <a:ea typeface="Jua"/>
              <a:cs typeface="Jua"/>
              <a:sym typeface="Jua"/>
            </a:endParaRPr>
          </a:p>
          <a:p>
            <a:pPr algn="l">
              <a:lnSpc>
                <a:spcPts val="4927"/>
              </a:lnSpc>
            </a:pPr>
            <a:endParaRPr lang="en-US" sz="3519" spc="-70">
              <a:solidFill>
                <a:srgbClr val="000000"/>
              </a:solidFill>
              <a:latin typeface="Jua"/>
              <a:ea typeface="Jua"/>
              <a:cs typeface="Jua"/>
              <a:sym typeface="Jua"/>
            </a:endParaRPr>
          </a:p>
          <a:p>
            <a:pPr algn="l">
              <a:lnSpc>
                <a:spcPts val="4927"/>
              </a:lnSpc>
            </a:pPr>
            <a:endParaRPr lang="en-US" sz="3519" spc="-70">
              <a:solidFill>
                <a:srgbClr val="000000"/>
              </a:solidFill>
              <a:latin typeface="Jua"/>
              <a:ea typeface="Jua"/>
              <a:cs typeface="Jua"/>
              <a:sym typeface="Jua"/>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910675" y="-284738"/>
            <a:ext cx="21673387" cy="10856475"/>
            <a:chOff x="0" y="0"/>
            <a:chExt cx="28897849" cy="14475300"/>
          </a:xfrm>
        </p:grpSpPr>
        <p:sp>
          <p:nvSpPr>
            <p:cNvPr id="3" name="Freeform 3"/>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666924" y="2585304"/>
            <a:ext cx="12765664" cy="7404105"/>
            <a:chOff x="0" y="0"/>
            <a:chExt cx="4582269" cy="2657723"/>
          </a:xfrm>
        </p:grpSpPr>
        <p:sp>
          <p:nvSpPr>
            <p:cNvPr id="6" name="Freeform 6"/>
            <p:cNvSpPr/>
            <p:nvPr/>
          </p:nvSpPr>
          <p:spPr>
            <a:xfrm>
              <a:off x="0" y="0"/>
              <a:ext cx="4582269" cy="2657723"/>
            </a:xfrm>
            <a:custGeom>
              <a:avLst/>
              <a:gdLst/>
              <a:ahLst/>
              <a:cxnLst/>
              <a:rect l="l" t="t" r="r" b="b"/>
              <a:pathLst>
                <a:path w="4582269" h="2657723">
                  <a:moveTo>
                    <a:pt x="30930" y="0"/>
                  </a:moveTo>
                  <a:lnTo>
                    <a:pt x="4551339" y="0"/>
                  </a:lnTo>
                  <a:cubicBezTo>
                    <a:pt x="4568421" y="0"/>
                    <a:pt x="4582269" y="13848"/>
                    <a:pt x="4582269" y="30930"/>
                  </a:cubicBezTo>
                  <a:lnTo>
                    <a:pt x="4582269" y="2626793"/>
                  </a:lnTo>
                  <a:cubicBezTo>
                    <a:pt x="4582269" y="2643875"/>
                    <a:pt x="4568421" y="2657723"/>
                    <a:pt x="4551339" y="2657723"/>
                  </a:cubicBezTo>
                  <a:lnTo>
                    <a:pt x="30930" y="2657723"/>
                  </a:lnTo>
                  <a:cubicBezTo>
                    <a:pt x="13848" y="2657723"/>
                    <a:pt x="0" y="2643875"/>
                    <a:pt x="0" y="2626793"/>
                  </a:cubicBezTo>
                  <a:lnTo>
                    <a:pt x="0" y="30930"/>
                  </a:lnTo>
                  <a:cubicBezTo>
                    <a:pt x="0" y="13848"/>
                    <a:pt x="13848" y="0"/>
                    <a:pt x="30930" y="0"/>
                  </a:cubicBezTo>
                  <a:close/>
                </a:path>
              </a:pathLst>
            </a:custGeom>
            <a:solidFill>
              <a:srgbClr val="77BFD7"/>
            </a:solidFill>
            <a:ln w="95250" cap="rnd">
              <a:solidFill>
                <a:srgbClr val="222222"/>
              </a:solidFill>
              <a:prstDash val="solid"/>
              <a:round/>
            </a:ln>
          </p:spPr>
        </p:sp>
        <p:sp>
          <p:nvSpPr>
            <p:cNvPr id="7" name="TextBox 7"/>
            <p:cNvSpPr txBox="1"/>
            <p:nvPr/>
          </p:nvSpPr>
          <p:spPr>
            <a:xfrm>
              <a:off x="0" y="-38100"/>
              <a:ext cx="4582269" cy="2695823"/>
            </a:xfrm>
            <a:prstGeom prst="rect">
              <a:avLst/>
            </a:prstGeom>
          </p:spPr>
          <p:txBody>
            <a:bodyPr lIns="50800" tIns="50800" rIns="50800" bIns="50800" rtlCol="0" anchor="ctr"/>
            <a:lstStyle/>
            <a:p>
              <a:pPr algn="ctr">
                <a:lnSpc>
                  <a:spcPts val="2609"/>
                </a:lnSpc>
              </a:pPr>
              <a:endParaRPr/>
            </a:p>
          </p:txBody>
        </p:sp>
      </p:grpSp>
      <p:sp>
        <p:nvSpPr>
          <p:cNvPr id="8" name="Freeform 8"/>
          <p:cNvSpPr/>
          <p:nvPr/>
        </p:nvSpPr>
        <p:spPr>
          <a:xfrm>
            <a:off x="12047436" y="0"/>
            <a:ext cx="6240564" cy="2652237"/>
          </a:xfrm>
          <a:custGeom>
            <a:avLst/>
            <a:gdLst/>
            <a:ahLst/>
            <a:cxnLst/>
            <a:rect l="l" t="t" r="r" b="b"/>
            <a:pathLst>
              <a:path w="6240564" h="2652237">
                <a:moveTo>
                  <a:pt x="0" y="0"/>
                </a:moveTo>
                <a:lnTo>
                  <a:pt x="6240564" y="0"/>
                </a:lnTo>
                <a:lnTo>
                  <a:pt x="6240564" y="2652237"/>
                </a:lnTo>
                <a:lnTo>
                  <a:pt x="0" y="2652237"/>
                </a:lnTo>
                <a:lnTo>
                  <a:pt x="0" y="0"/>
                </a:lnTo>
                <a:close/>
              </a:path>
            </a:pathLst>
          </a:custGeom>
          <a:blipFill>
            <a:blip r:embed="rId4"/>
            <a:stretch>
              <a:fillRect t="-68279" b="-67014"/>
            </a:stretch>
          </a:blipFill>
        </p:spPr>
      </p:sp>
      <p:sp>
        <p:nvSpPr>
          <p:cNvPr id="9" name="TextBox 9"/>
          <p:cNvSpPr txBox="1"/>
          <p:nvPr/>
        </p:nvSpPr>
        <p:spPr>
          <a:xfrm>
            <a:off x="914400" y="2765066"/>
            <a:ext cx="14516100" cy="6938438"/>
          </a:xfrm>
          <a:prstGeom prst="rect">
            <a:avLst/>
          </a:prstGeom>
        </p:spPr>
        <p:txBody>
          <a:bodyPr wrap="square" lIns="0" tIns="0" rIns="0" bIns="0" rtlCol="0" anchor="t">
            <a:spAutoFit/>
          </a:bodyPr>
          <a:lstStyle/>
          <a:p>
            <a:pPr algn="l">
              <a:lnSpc>
                <a:spcPts val="3865"/>
              </a:lnSpc>
            </a:pPr>
            <a:r>
              <a:rPr lang="en-US" sz="2500" spc="-55" dirty="0">
                <a:solidFill>
                  <a:srgbClr val="000000"/>
                </a:solidFill>
                <a:latin typeface="Jua"/>
                <a:ea typeface="Jua"/>
                <a:cs typeface="Jua"/>
                <a:sym typeface="Jua"/>
              </a:rPr>
              <a:t>MULAI</a:t>
            </a:r>
          </a:p>
          <a:p>
            <a:pPr algn="l">
              <a:lnSpc>
                <a:spcPts val="3865"/>
              </a:lnSpc>
            </a:pPr>
            <a:r>
              <a:rPr lang="en-US" sz="2500" spc="-55" dirty="0">
                <a:solidFill>
                  <a:srgbClr val="000000"/>
                </a:solidFill>
                <a:latin typeface="Jua"/>
                <a:ea typeface="Jua"/>
                <a:cs typeface="Jua"/>
                <a:sym typeface="Jua"/>
              </a:rPr>
              <a:t>    Minta </a:t>
            </a:r>
            <a:r>
              <a:rPr lang="en-US" sz="2500" spc="-55" dirty="0" err="1">
                <a:solidFill>
                  <a:srgbClr val="000000"/>
                </a:solidFill>
                <a:latin typeface="Jua"/>
                <a:ea typeface="Jua"/>
                <a:cs typeface="Jua"/>
                <a:sym typeface="Jua"/>
              </a:rPr>
              <a:t>pengguna</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memasukkan</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nilai</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tinggi</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segitiga</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simpan</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dalam</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variabel</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tinggi</a:t>
            </a:r>
            <a:r>
              <a:rPr lang="en-US" sz="2500" spc="-55" dirty="0">
                <a:solidFill>
                  <a:srgbClr val="000000"/>
                </a:solidFill>
                <a:latin typeface="Jua"/>
                <a:ea typeface="Jua"/>
                <a:cs typeface="Jua"/>
                <a:sym typeface="Jua"/>
              </a:rPr>
              <a:t>')</a:t>
            </a:r>
          </a:p>
          <a:p>
            <a:pPr algn="l">
              <a:lnSpc>
                <a:spcPts val="3865"/>
              </a:lnSpc>
            </a:pPr>
            <a:r>
              <a:rPr lang="en-US" sz="2500" spc="-55" dirty="0">
                <a:solidFill>
                  <a:srgbClr val="000000"/>
                </a:solidFill>
                <a:latin typeface="Jua"/>
                <a:ea typeface="Jua"/>
                <a:cs typeface="Jua"/>
                <a:sym typeface="Jua"/>
              </a:rPr>
              <a:t>    </a:t>
            </a:r>
          </a:p>
          <a:p>
            <a:pPr algn="l">
              <a:lnSpc>
                <a:spcPts val="3865"/>
              </a:lnSpc>
            </a:pPr>
            <a:r>
              <a:rPr lang="en-US" sz="2500" spc="-55" dirty="0">
                <a:solidFill>
                  <a:srgbClr val="000000"/>
                </a:solidFill>
                <a:latin typeface="Jua"/>
                <a:ea typeface="Jua"/>
                <a:cs typeface="Jua"/>
                <a:sym typeface="Jua"/>
              </a:rPr>
              <a:t>    // </a:t>
            </a:r>
            <a:r>
              <a:rPr lang="en-US" sz="2500" spc="-55" dirty="0" err="1">
                <a:solidFill>
                  <a:srgbClr val="000000"/>
                </a:solidFill>
                <a:latin typeface="Jua"/>
                <a:ea typeface="Jua"/>
                <a:cs typeface="Jua"/>
                <a:sym typeface="Jua"/>
              </a:rPr>
              <a:t>Perulangan</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luar</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untuk</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mengatur</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jumlah</a:t>
            </a:r>
            <a:r>
              <a:rPr lang="en-US" sz="2500" spc="-55" dirty="0">
                <a:solidFill>
                  <a:srgbClr val="000000"/>
                </a:solidFill>
                <a:latin typeface="Jua"/>
                <a:ea typeface="Jua"/>
                <a:cs typeface="Jua"/>
                <a:sym typeface="Jua"/>
              </a:rPr>
              <a:t> baris</a:t>
            </a:r>
          </a:p>
          <a:p>
            <a:pPr algn="l">
              <a:lnSpc>
                <a:spcPts val="3865"/>
              </a:lnSpc>
            </a:pPr>
            <a:r>
              <a:rPr lang="en-US" sz="2500" spc="-55" dirty="0">
                <a:solidFill>
                  <a:srgbClr val="000000"/>
                </a:solidFill>
                <a:latin typeface="Jua"/>
                <a:ea typeface="Jua"/>
                <a:cs typeface="Jua"/>
                <a:sym typeface="Jua"/>
              </a:rPr>
              <a:t>    UNTUK </a:t>
            </a:r>
            <a:r>
              <a:rPr lang="en-US" sz="2500" spc="-55" dirty="0" err="1">
                <a:solidFill>
                  <a:srgbClr val="000000"/>
                </a:solidFill>
                <a:latin typeface="Jua"/>
                <a:ea typeface="Jua"/>
                <a:cs typeface="Jua"/>
                <a:sym typeface="Jua"/>
              </a:rPr>
              <a:t>i</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dari</a:t>
            </a:r>
            <a:r>
              <a:rPr lang="en-US" sz="2500" spc="-55" dirty="0">
                <a:solidFill>
                  <a:srgbClr val="000000"/>
                </a:solidFill>
                <a:latin typeface="Jua"/>
                <a:ea typeface="Jua"/>
                <a:cs typeface="Jua"/>
                <a:sym typeface="Jua"/>
              </a:rPr>
              <a:t> 1 SAMPAI </a:t>
            </a:r>
            <a:r>
              <a:rPr lang="en-US" sz="2500" spc="-55" dirty="0" err="1">
                <a:solidFill>
                  <a:srgbClr val="000000"/>
                </a:solidFill>
                <a:latin typeface="Jua"/>
                <a:ea typeface="Jua"/>
                <a:cs typeface="Jua"/>
                <a:sym typeface="Jua"/>
              </a:rPr>
              <a:t>tinggi</a:t>
            </a:r>
            <a:r>
              <a:rPr lang="en-US" sz="2500" spc="-55" dirty="0">
                <a:solidFill>
                  <a:srgbClr val="000000"/>
                </a:solidFill>
                <a:latin typeface="Jua"/>
                <a:ea typeface="Jua"/>
                <a:cs typeface="Jua"/>
                <a:sym typeface="Jua"/>
              </a:rPr>
              <a:t> LAKUKAN</a:t>
            </a:r>
          </a:p>
          <a:p>
            <a:pPr algn="l">
              <a:lnSpc>
                <a:spcPts val="3865"/>
              </a:lnSpc>
            </a:pPr>
            <a:r>
              <a:rPr lang="en-US" sz="2500" spc="-55" dirty="0">
                <a:solidFill>
                  <a:srgbClr val="000000"/>
                </a:solidFill>
                <a:latin typeface="Jua"/>
                <a:ea typeface="Jua"/>
                <a:cs typeface="Jua"/>
                <a:sym typeface="Jua"/>
              </a:rPr>
              <a:t>    </a:t>
            </a:r>
          </a:p>
          <a:p>
            <a:pPr algn="l">
              <a:lnSpc>
                <a:spcPts val="3865"/>
              </a:lnSpc>
            </a:pPr>
            <a:r>
              <a:rPr lang="en-US" sz="2500" spc="-55" dirty="0">
                <a:solidFill>
                  <a:srgbClr val="000000"/>
                </a:solidFill>
                <a:latin typeface="Jua"/>
                <a:ea typeface="Jua"/>
                <a:cs typeface="Jua"/>
                <a:sym typeface="Jua"/>
              </a:rPr>
              <a:t>        // </a:t>
            </a:r>
            <a:r>
              <a:rPr lang="en-US" sz="2500" spc="-55" dirty="0" err="1">
                <a:solidFill>
                  <a:srgbClr val="000000"/>
                </a:solidFill>
                <a:latin typeface="Jua"/>
                <a:ea typeface="Jua"/>
                <a:cs typeface="Jua"/>
                <a:sym typeface="Jua"/>
              </a:rPr>
              <a:t>Perulangan</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dalam</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untuk</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mencetak</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bintang</a:t>
            </a:r>
            <a:r>
              <a:rPr lang="en-US" sz="2500" spc="-55" dirty="0">
                <a:solidFill>
                  <a:srgbClr val="000000"/>
                </a:solidFill>
                <a:latin typeface="Jua"/>
                <a:ea typeface="Jua"/>
                <a:cs typeface="Jua"/>
                <a:sym typeface="Jua"/>
              </a:rPr>
              <a:t> pada baris </a:t>
            </a:r>
            <a:r>
              <a:rPr lang="en-US" sz="2500" spc="-55" dirty="0" err="1">
                <a:solidFill>
                  <a:srgbClr val="000000"/>
                </a:solidFill>
                <a:latin typeface="Jua"/>
                <a:ea typeface="Jua"/>
                <a:cs typeface="Jua"/>
                <a:sym typeface="Jua"/>
              </a:rPr>
              <a:t>ke-i</a:t>
            </a:r>
            <a:endParaRPr lang="en-US" sz="2500" spc="-55" dirty="0">
              <a:solidFill>
                <a:srgbClr val="000000"/>
              </a:solidFill>
              <a:latin typeface="Jua"/>
              <a:ea typeface="Jua"/>
              <a:cs typeface="Jua"/>
              <a:sym typeface="Jua"/>
            </a:endParaRPr>
          </a:p>
          <a:p>
            <a:pPr algn="l">
              <a:lnSpc>
                <a:spcPts val="3865"/>
              </a:lnSpc>
            </a:pPr>
            <a:r>
              <a:rPr lang="en-US" sz="2500" spc="-55" dirty="0">
                <a:solidFill>
                  <a:srgbClr val="000000"/>
                </a:solidFill>
                <a:latin typeface="Jua"/>
                <a:ea typeface="Jua"/>
                <a:cs typeface="Jua"/>
                <a:sym typeface="Jua"/>
              </a:rPr>
              <a:t>        UNTUK j </a:t>
            </a:r>
            <a:r>
              <a:rPr lang="en-US" sz="2500" spc="-55" dirty="0" err="1">
                <a:solidFill>
                  <a:srgbClr val="000000"/>
                </a:solidFill>
                <a:latin typeface="Jua"/>
                <a:ea typeface="Jua"/>
                <a:cs typeface="Jua"/>
                <a:sym typeface="Jua"/>
              </a:rPr>
              <a:t>dari</a:t>
            </a:r>
            <a:r>
              <a:rPr lang="en-US" sz="2500" spc="-55" dirty="0">
                <a:solidFill>
                  <a:srgbClr val="000000"/>
                </a:solidFill>
                <a:latin typeface="Jua"/>
                <a:ea typeface="Jua"/>
                <a:cs typeface="Jua"/>
                <a:sym typeface="Jua"/>
              </a:rPr>
              <a:t> 1 SAMPAI </a:t>
            </a:r>
            <a:r>
              <a:rPr lang="en-US" sz="2500" spc="-55" dirty="0" err="1">
                <a:solidFill>
                  <a:srgbClr val="000000"/>
                </a:solidFill>
                <a:latin typeface="Jua"/>
                <a:ea typeface="Jua"/>
                <a:cs typeface="Jua"/>
                <a:sym typeface="Jua"/>
              </a:rPr>
              <a:t>i</a:t>
            </a:r>
            <a:r>
              <a:rPr lang="en-US" sz="2500" spc="-55" dirty="0">
                <a:solidFill>
                  <a:srgbClr val="000000"/>
                </a:solidFill>
                <a:latin typeface="Jua"/>
                <a:ea typeface="Jua"/>
                <a:cs typeface="Jua"/>
                <a:sym typeface="Jua"/>
              </a:rPr>
              <a:t> LAKUKAN</a:t>
            </a:r>
          </a:p>
          <a:p>
            <a:pPr algn="l">
              <a:lnSpc>
                <a:spcPts val="3865"/>
              </a:lnSpc>
            </a:pP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Cetak</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simbol</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bintang</a:t>
            </a:r>
            <a:r>
              <a:rPr lang="en-US" sz="2500" spc="-55" dirty="0">
                <a:solidFill>
                  <a:srgbClr val="000000"/>
                </a:solidFill>
                <a:latin typeface="Jua"/>
                <a:ea typeface="Jua"/>
                <a:cs typeface="Jua"/>
                <a:sym typeface="Jua"/>
              </a:rPr>
              <a:t> '*' </a:t>
            </a:r>
            <a:r>
              <a:rPr lang="en-US" sz="2500" spc="-55" dirty="0" err="1">
                <a:solidFill>
                  <a:srgbClr val="000000"/>
                </a:solidFill>
                <a:latin typeface="Jua"/>
                <a:ea typeface="Jua"/>
                <a:cs typeface="Jua"/>
                <a:sym typeface="Jua"/>
              </a:rPr>
              <a:t>tanpa</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pindah</a:t>
            </a:r>
            <a:r>
              <a:rPr lang="en-US" sz="2500" spc="-55" dirty="0">
                <a:solidFill>
                  <a:srgbClr val="000000"/>
                </a:solidFill>
                <a:latin typeface="Jua"/>
                <a:ea typeface="Jua"/>
                <a:cs typeface="Jua"/>
                <a:sym typeface="Jua"/>
              </a:rPr>
              <a:t> baris (</a:t>
            </a:r>
            <a:r>
              <a:rPr lang="en-US" sz="2500" spc="-55" dirty="0" err="1">
                <a:solidFill>
                  <a:srgbClr val="000000"/>
                </a:solidFill>
                <a:latin typeface="Jua"/>
                <a:ea typeface="Jua"/>
                <a:cs typeface="Jua"/>
                <a:sym typeface="Jua"/>
              </a:rPr>
              <a:t>gunakan</a:t>
            </a:r>
            <a:r>
              <a:rPr lang="en-US" sz="2500" spc="-55" dirty="0">
                <a:solidFill>
                  <a:srgbClr val="000000"/>
                </a:solidFill>
                <a:latin typeface="Jua"/>
                <a:ea typeface="Jua"/>
                <a:cs typeface="Jua"/>
                <a:sym typeface="Jua"/>
              </a:rPr>
              <a:t> end=' ')</a:t>
            </a:r>
          </a:p>
          <a:p>
            <a:pPr algn="l">
              <a:lnSpc>
                <a:spcPts val="3865"/>
              </a:lnSpc>
            </a:pPr>
            <a:r>
              <a:rPr lang="en-US" sz="2500" spc="-55" dirty="0">
                <a:solidFill>
                  <a:srgbClr val="000000"/>
                </a:solidFill>
                <a:latin typeface="Jua"/>
                <a:ea typeface="Jua"/>
                <a:cs typeface="Jua"/>
                <a:sym typeface="Jua"/>
              </a:rPr>
              <a:t>        SELESAI UNTUK</a:t>
            </a:r>
          </a:p>
          <a:p>
            <a:pPr algn="l">
              <a:lnSpc>
                <a:spcPts val="3865"/>
              </a:lnSpc>
            </a:pPr>
            <a:r>
              <a:rPr lang="en-US" sz="2500" spc="-55" dirty="0">
                <a:solidFill>
                  <a:srgbClr val="000000"/>
                </a:solidFill>
                <a:latin typeface="Jua"/>
                <a:ea typeface="Jua"/>
                <a:cs typeface="Jua"/>
                <a:sym typeface="Jua"/>
              </a:rPr>
              <a:t>        </a:t>
            </a:r>
          </a:p>
          <a:p>
            <a:pPr algn="l">
              <a:lnSpc>
                <a:spcPts val="3865"/>
              </a:lnSpc>
            </a:pP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Pindah</a:t>
            </a:r>
            <a:r>
              <a:rPr lang="en-US" sz="2500" spc="-55" dirty="0">
                <a:solidFill>
                  <a:srgbClr val="000000"/>
                </a:solidFill>
                <a:latin typeface="Jua"/>
                <a:ea typeface="Jua"/>
                <a:cs typeface="Jua"/>
                <a:sym typeface="Jua"/>
              </a:rPr>
              <a:t> </a:t>
            </a:r>
            <a:r>
              <a:rPr lang="en-US" sz="2500" spc="-55" dirty="0" err="1">
                <a:solidFill>
                  <a:srgbClr val="000000"/>
                </a:solidFill>
                <a:latin typeface="Jua"/>
                <a:ea typeface="Jua"/>
                <a:cs typeface="Jua"/>
                <a:sym typeface="Jua"/>
              </a:rPr>
              <a:t>ke</a:t>
            </a:r>
            <a:r>
              <a:rPr lang="en-US" sz="2500" spc="-55" dirty="0">
                <a:solidFill>
                  <a:srgbClr val="000000"/>
                </a:solidFill>
                <a:latin typeface="Jua"/>
                <a:ea typeface="Jua"/>
                <a:cs typeface="Jua"/>
                <a:sym typeface="Jua"/>
              </a:rPr>
              <a:t> baris </a:t>
            </a:r>
            <a:r>
              <a:rPr lang="en-US" sz="2500" spc="-55" dirty="0" err="1">
                <a:solidFill>
                  <a:srgbClr val="000000"/>
                </a:solidFill>
                <a:latin typeface="Jua"/>
                <a:ea typeface="Jua"/>
                <a:cs typeface="Jua"/>
                <a:sym typeface="Jua"/>
              </a:rPr>
              <a:t>baru</a:t>
            </a:r>
            <a:r>
              <a:rPr lang="en-US" sz="2500" spc="-55" dirty="0">
                <a:solidFill>
                  <a:srgbClr val="000000"/>
                </a:solidFill>
                <a:latin typeface="Jua"/>
                <a:ea typeface="Jua"/>
                <a:cs typeface="Jua"/>
                <a:sym typeface="Jua"/>
              </a:rPr>
              <a:t> (print newline)</a:t>
            </a:r>
          </a:p>
          <a:p>
            <a:pPr algn="l">
              <a:lnSpc>
                <a:spcPts val="3865"/>
              </a:lnSpc>
            </a:pPr>
            <a:r>
              <a:rPr lang="en-US" sz="2500" spc="-55" dirty="0">
                <a:solidFill>
                  <a:srgbClr val="000000"/>
                </a:solidFill>
                <a:latin typeface="Jua"/>
                <a:ea typeface="Jua"/>
                <a:cs typeface="Jua"/>
                <a:sym typeface="Jua"/>
              </a:rPr>
              <a:t>        </a:t>
            </a:r>
          </a:p>
          <a:p>
            <a:pPr algn="l">
              <a:lnSpc>
                <a:spcPts val="3865"/>
              </a:lnSpc>
            </a:pPr>
            <a:r>
              <a:rPr lang="en-US" sz="2500" spc="-55" dirty="0">
                <a:solidFill>
                  <a:srgbClr val="000000"/>
                </a:solidFill>
                <a:latin typeface="Jua"/>
                <a:ea typeface="Jua"/>
                <a:cs typeface="Jua"/>
                <a:sym typeface="Jua"/>
              </a:rPr>
              <a:t>SELESAI</a:t>
            </a:r>
          </a:p>
        </p:txBody>
      </p:sp>
      <p:sp>
        <p:nvSpPr>
          <p:cNvPr id="10" name="TextBox 10"/>
          <p:cNvSpPr txBox="1"/>
          <p:nvPr/>
        </p:nvSpPr>
        <p:spPr>
          <a:xfrm>
            <a:off x="1128971" y="1200150"/>
            <a:ext cx="8681862" cy="903837"/>
          </a:xfrm>
          <a:prstGeom prst="rect">
            <a:avLst/>
          </a:prstGeom>
        </p:spPr>
        <p:txBody>
          <a:bodyPr lIns="0" tIns="0" rIns="0" bIns="0" rtlCol="0" anchor="t">
            <a:spAutoFit/>
          </a:bodyPr>
          <a:lstStyle/>
          <a:p>
            <a:pPr algn="l">
              <a:lnSpc>
                <a:spcPts val="7012"/>
              </a:lnSpc>
            </a:pPr>
            <a:r>
              <a:rPr lang="en-US" sz="8990">
                <a:solidFill>
                  <a:srgbClr val="FFFFFF"/>
                </a:solidFill>
                <a:effectLst>
                  <a:innerShdw blurRad="114300">
                    <a:prstClr val="black"/>
                  </a:innerShdw>
                </a:effectLst>
                <a:latin typeface="Funtastic"/>
                <a:ea typeface="Funtastic"/>
                <a:cs typeface="Funtastic"/>
                <a:sym typeface="Funtastic"/>
              </a:rPr>
              <a:t>PSEUDOCODE</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7364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1939820" y="1516109"/>
            <a:ext cx="4552683" cy="8315232"/>
          </a:xfrm>
          <a:custGeom>
            <a:avLst/>
            <a:gdLst/>
            <a:ahLst/>
            <a:cxnLst/>
            <a:rect l="l" t="t" r="r" b="b"/>
            <a:pathLst>
              <a:path w="4552683" h="8315232">
                <a:moveTo>
                  <a:pt x="0" y="0"/>
                </a:moveTo>
                <a:lnTo>
                  <a:pt x="4552684" y="0"/>
                </a:lnTo>
                <a:lnTo>
                  <a:pt x="4552684" y="8315232"/>
                </a:lnTo>
                <a:lnTo>
                  <a:pt x="0" y="8315232"/>
                </a:lnTo>
                <a:lnTo>
                  <a:pt x="0" y="0"/>
                </a:lnTo>
                <a:close/>
              </a:path>
            </a:pathLst>
          </a:custGeom>
          <a:blipFill>
            <a:blip r:embed="rId4"/>
            <a:stretch>
              <a:fillRect/>
            </a:stretch>
          </a:blipFill>
        </p:spPr>
      </p:sp>
      <p:sp>
        <p:nvSpPr>
          <p:cNvPr id="6" name="Freeform 6"/>
          <p:cNvSpPr/>
          <p:nvPr/>
        </p:nvSpPr>
        <p:spPr>
          <a:xfrm>
            <a:off x="15783135" y="8739257"/>
            <a:ext cx="1476165" cy="1832480"/>
          </a:xfrm>
          <a:custGeom>
            <a:avLst/>
            <a:gdLst/>
            <a:ahLst/>
            <a:cxnLst/>
            <a:rect l="l" t="t" r="r" b="b"/>
            <a:pathLst>
              <a:path w="1476165" h="1832480">
                <a:moveTo>
                  <a:pt x="0" y="0"/>
                </a:moveTo>
                <a:lnTo>
                  <a:pt x="1476165" y="0"/>
                </a:lnTo>
                <a:lnTo>
                  <a:pt x="1476165" y="1832481"/>
                </a:lnTo>
                <a:lnTo>
                  <a:pt x="0" y="1832481"/>
                </a:lnTo>
                <a:lnTo>
                  <a:pt x="0" y="0"/>
                </a:lnTo>
                <a:close/>
              </a:path>
            </a:pathLst>
          </a:custGeom>
          <a:blipFill>
            <a:blip r:embed="rId5"/>
            <a:stretch>
              <a:fillRect/>
            </a:stretch>
          </a:blipFill>
        </p:spPr>
      </p:sp>
      <p:sp>
        <p:nvSpPr>
          <p:cNvPr id="7" name="Freeform 7"/>
          <p:cNvSpPr/>
          <p:nvPr/>
        </p:nvSpPr>
        <p:spPr>
          <a:xfrm>
            <a:off x="9843803" y="511720"/>
            <a:ext cx="6387396" cy="8481189"/>
          </a:xfrm>
          <a:custGeom>
            <a:avLst/>
            <a:gdLst/>
            <a:ahLst/>
            <a:cxnLst/>
            <a:rect l="l" t="t" r="r" b="b"/>
            <a:pathLst>
              <a:path w="6387396" h="8481189">
                <a:moveTo>
                  <a:pt x="0" y="0"/>
                </a:moveTo>
                <a:lnTo>
                  <a:pt x="6387396" y="0"/>
                </a:lnTo>
                <a:lnTo>
                  <a:pt x="6387396" y="8481189"/>
                </a:lnTo>
                <a:lnTo>
                  <a:pt x="0" y="8481189"/>
                </a:lnTo>
                <a:lnTo>
                  <a:pt x="0" y="0"/>
                </a:lnTo>
                <a:close/>
              </a:path>
            </a:pathLst>
          </a:custGeom>
          <a:blipFill>
            <a:blip r:embed="rId6"/>
            <a:stretch>
              <a:fillRect/>
            </a:stretch>
          </a:blipFill>
        </p:spPr>
      </p:sp>
      <p:sp>
        <p:nvSpPr>
          <p:cNvPr id="8" name="TextBox 8"/>
          <p:cNvSpPr txBox="1"/>
          <p:nvPr/>
        </p:nvSpPr>
        <p:spPr>
          <a:xfrm>
            <a:off x="1161941" y="571583"/>
            <a:ext cx="8681862" cy="903837"/>
          </a:xfrm>
          <a:prstGeom prst="rect">
            <a:avLst/>
          </a:prstGeom>
        </p:spPr>
        <p:txBody>
          <a:bodyPr lIns="0" tIns="0" rIns="0" bIns="0" rtlCol="0" anchor="t">
            <a:spAutoFit/>
          </a:bodyPr>
          <a:lstStyle/>
          <a:p>
            <a:pPr algn="l">
              <a:lnSpc>
                <a:spcPts val="7012"/>
              </a:lnSpc>
            </a:pPr>
            <a:r>
              <a:rPr lang="en-US" sz="8990" dirty="0">
                <a:solidFill>
                  <a:srgbClr val="FFFFFF"/>
                </a:solidFill>
                <a:effectLst>
                  <a:innerShdw blurRad="114300">
                    <a:prstClr val="black"/>
                  </a:innerShdw>
                </a:effectLst>
                <a:latin typeface="Funtastic"/>
                <a:ea typeface="Funtastic"/>
                <a:cs typeface="Funtastic"/>
                <a:sym typeface="Funtastic"/>
              </a:rPr>
              <a:t>FLOWCHART</a:t>
            </a:r>
          </a:p>
        </p:txBody>
      </p:sp>
      <p:sp>
        <p:nvSpPr>
          <p:cNvPr id="9" name="TextBox 9"/>
          <p:cNvSpPr txBox="1"/>
          <p:nvPr/>
        </p:nvSpPr>
        <p:spPr>
          <a:xfrm rot="-5400000">
            <a:off x="-31903" y="4612538"/>
            <a:ext cx="2311497" cy="1365250"/>
          </a:xfrm>
          <a:prstGeom prst="rect">
            <a:avLst/>
          </a:prstGeom>
        </p:spPr>
        <p:txBody>
          <a:bodyPr lIns="0" tIns="0" rIns="0" bIns="0" rtlCol="0" anchor="t">
            <a:spAutoFit/>
          </a:bodyPr>
          <a:lstStyle/>
          <a:p>
            <a:pPr algn="l">
              <a:lnSpc>
                <a:spcPts val="9799"/>
              </a:lnSpc>
            </a:pPr>
            <a:r>
              <a:rPr lang="en-US" sz="6999" spc="-139">
                <a:solidFill>
                  <a:srgbClr val="000000"/>
                </a:solidFill>
                <a:latin typeface="Jua"/>
                <a:ea typeface="Jua"/>
                <a:cs typeface="Jua"/>
                <a:sym typeface="Jua"/>
              </a:rPr>
              <a:t>Umum</a:t>
            </a:r>
          </a:p>
        </p:txBody>
      </p:sp>
      <p:sp>
        <p:nvSpPr>
          <p:cNvPr id="10" name="TextBox 10"/>
          <p:cNvSpPr txBox="1"/>
          <p:nvPr/>
        </p:nvSpPr>
        <p:spPr>
          <a:xfrm rot="-5400000">
            <a:off x="7530244" y="4306931"/>
            <a:ext cx="2922712" cy="1365250"/>
          </a:xfrm>
          <a:prstGeom prst="rect">
            <a:avLst/>
          </a:prstGeom>
        </p:spPr>
        <p:txBody>
          <a:bodyPr lIns="0" tIns="0" rIns="0" bIns="0" rtlCol="0" anchor="t">
            <a:spAutoFit/>
          </a:bodyPr>
          <a:lstStyle/>
          <a:p>
            <a:pPr algn="l">
              <a:lnSpc>
                <a:spcPts val="9799"/>
              </a:lnSpc>
            </a:pPr>
            <a:r>
              <a:rPr lang="en-US" sz="6999" spc="-139">
                <a:solidFill>
                  <a:srgbClr val="000000"/>
                </a:solidFill>
                <a:latin typeface="Jua"/>
                <a:ea typeface="Jua"/>
                <a:cs typeface="Jua"/>
                <a:sym typeface="Jua"/>
              </a:rPr>
              <a:t>Contoh</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500562" y="2446429"/>
            <a:ext cx="6147005" cy="7518906"/>
          </a:xfrm>
          <a:custGeom>
            <a:avLst/>
            <a:gdLst/>
            <a:ahLst/>
            <a:cxnLst/>
            <a:rect l="l" t="t" r="r" b="b"/>
            <a:pathLst>
              <a:path w="6147005" h="7518906">
                <a:moveTo>
                  <a:pt x="0" y="0"/>
                </a:moveTo>
                <a:lnTo>
                  <a:pt x="6147006" y="0"/>
                </a:lnTo>
                <a:lnTo>
                  <a:pt x="6147006" y="7518905"/>
                </a:lnTo>
                <a:lnTo>
                  <a:pt x="0" y="7518905"/>
                </a:lnTo>
                <a:lnTo>
                  <a:pt x="0" y="0"/>
                </a:lnTo>
                <a:close/>
              </a:path>
            </a:pathLst>
          </a:custGeom>
          <a:blipFill>
            <a:blip r:embed="rId4"/>
            <a:stretch>
              <a:fillRect r="-15306"/>
            </a:stretch>
          </a:blipFill>
        </p:spPr>
      </p:sp>
      <p:sp>
        <p:nvSpPr>
          <p:cNvPr id="6" name="Freeform 6"/>
          <p:cNvSpPr/>
          <p:nvPr/>
        </p:nvSpPr>
        <p:spPr>
          <a:xfrm rot="5400000">
            <a:off x="7949575" y="3595698"/>
            <a:ext cx="1408835" cy="612843"/>
          </a:xfrm>
          <a:custGeom>
            <a:avLst/>
            <a:gdLst/>
            <a:ahLst/>
            <a:cxnLst/>
            <a:rect l="l" t="t" r="r" b="b"/>
            <a:pathLst>
              <a:path w="1408835" h="612843">
                <a:moveTo>
                  <a:pt x="0" y="0"/>
                </a:moveTo>
                <a:lnTo>
                  <a:pt x="1408835" y="0"/>
                </a:lnTo>
                <a:lnTo>
                  <a:pt x="1408835" y="612843"/>
                </a:lnTo>
                <a:lnTo>
                  <a:pt x="0" y="6128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692075" y="2032068"/>
            <a:ext cx="1736284" cy="1736284"/>
          </a:xfrm>
          <a:custGeom>
            <a:avLst/>
            <a:gdLst/>
            <a:ahLst/>
            <a:cxnLst/>
            <a:rect l="l" t="t" r="r" b="b"/>
            <a:pathLst>
              <a:path w="1736284" h="1736284">
                <a:moveTo>
                  <a:pt x="0" y="0"/>
                </a:moveTo>
                <a:lnTo>
                  <a:pt x="1736283" y="0"/>
                </a:lnTo>
                <a:lnTo>
                  <a:pt x="1736283" y="1736284"/>
                </a:lnTo>
                <a:lnTo>
                  <a:pt x="0" y="1736284"/>
                </a:lnTo>
                <a:lnTo>
                  <a:pt x="0" y="0"/>
                </a:lnTo>
                <a:close/>
              </a:path>
            </a:pathLst>
          </a:custGeom>
          <a:blipFill>
            <a:blip r:embed="rId7"/>
            <a:stretch>
              <a:fillRect/>
            </a:stretch>
          </a:blipFill>
        </p:spPr>
      </p:sp>
      <p:sp>
        <p:nvSpPr>
          <p:cNvPr id="8" name="Freeform 8"/>
          <p:cNvSpPr/>
          <p:nvPr/>
        </p:nvSpPr>
        <p:spPr>
          <a:xfrm>
            <a:off x="7238792" y="3127898"/>
            <a:ext cx="9207840" cy="640454"/>
          </a:xfrm>
          <a:custGeom>
            <a:avLst/>
            <a:gdLst/>
            <a:ahLst/>
            <a:cxnLst/>
            <a:rect l="l" t="t" r="r" b="b"/>
            <a:pathLst>
              <a:path w="9207840" h="640454">
                <a:moveTo>
                  <a:pt x="0" y="0"/>
                </a:moveTo>
                <a:lnTo>
                  <a:pt x="9207840" y="0"/>
                </a:lnTo>
                <a:lnTo>
                  <a:pt x="9207840" y="640454"/>
                </a:lnTo>
                <a:lnTo>
                  <a:pt x="0" y="640454"/>
                </a:lnTo>
                <a:lnTo>
                  <a:pt x="0" y="0"/>
                </a:lnTo>
                <a:close/>
              </a:path>
            </a:pathLst>
          </a:custGeom>
          <a:blipFill>
            <a:blip r:embed="rId8"/>
            <a:stretch>
              <a:fillRect/>
            </a:stretch>
          </a:blipFill>
        </p:spPr>
      </p:sp>
      <p:sp>
        <p:nvSpPr>
          <p:cNvPr id="9" name="Freeform 9"/>
          <p:cNvSpPr/>
          <p:nvPr/>
        </p:nvSpPr>
        <p:spPr>
          <a:xfrm rot="5400000">
            <a:off x="8001628" y="6873490"/>
            <a:ext cx="1224578" cy="532691"/>
          </a:xfrm>
          <a:custGeom>
            <a:avLst/>
            <a:gdLst/>
            <a:ahLst/>
            <a:cxnLst/>
            <a:rect l="l" t="t" r="r" b="b"/>
            <a:pathLst>
              <a:path w="1224578" h="532691">
                <a:moveTo>
                  <a:pt x="0" y="0"/>
                </a:moveTo>
                <a:lnTo>
                  <a:pt x="1224578" y="0"/>
                </a:lnTo>
                <a:lnTo>
                  <a:pt x="1224578" y="532692"/>
                </a:lnTo>
                <a:lnTo>
                  <a:pt x="0" y="5326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5400000">
            <a:off x="11623566" y="6848601"/>
            <a:ext cx="1259267" cy="547781"/>
          </a:xfrm>
          <a:custGeom>
            <a:avLst/>
            <a:gdLst/>
            <a:ahLst/>
            <a:cxnLst/>
            <a:rect l="l" t="t" r="r" b="b"/>
            <a:pathLst>
              <a:path w="1259267" h="547781">
                <a:moveTo>
                  <a:pt x="0" y="0"/>
                </a:moveTo>
                <a:lnTo>
                  <a:pt x="1259267" y="0"/>
                </a:lnTo>
                <a:lnTo>
                  <a:pt x="1259267" y="547781"/>
                </a:lnTo>
                <a:lnTo>
                  <a:pt x="0" y="5477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5400000">
            <a:off x="10219969" y="6865946"/>
            <a:ext cx="1259267" cy="547781"/>
          </a:xfrm>
          <a:custGeom>
            <a:avLst/>
            <a:gdLst/>
            <a:ahLst/>
            <a:cxnLst/>
            <a:rect l="l" t="t" r="r" b="b"/>
            <a:pathLst>
              <a:path w="1259267" h="547781">
                <a:moveTo>
                  <a:pt x="0" y="0"/>
                </a:moveTo>
                <a:lnTo>
                  <a:pt x="1259267" y="0"/>
                </a:lnTo>
                <a:lnTo>
                  <a:pt x="1259267" y="547781"/>
                </a:lnTo>
                <a:lnTo>
                  <a:pt x="0" y="5477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5400000">
            <a:off x="14971538" y="6871330"/>
            <a:ext cx="1278328" cy="556073"/>
          </a:xfrm>
          <a:custGeom>
            <a:avLst/>
            <a:gdLst/>
            <a:ahLst/>
            <a:cxnLst/>
            <a:rect l="l" t="t" r="r" b="b"/>
            <a:pathLst>
              <a:path w="1278328" h="556073">
                <a:moveTo>
                  <a:pt x="0" y="0"/>
                </a:moveTo>
                <a:lnTo>
                  <a:pt x="1278328" y="0"/>
                </a:lnTo>
                <a:lnTo>
                  <a:pt x="1278328" y="556073"/>
                </a:lnTo>
                <a:lnTo>
                  <a:pt x="0" y="5560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7238792" y="6527547"/>
            <a:ext cx="10576597" cy="520161"/>
          </a:xfrm>
          <a:custGeom>
            <a:avLst/>
            <a:gdLst/>
            <a:ahLst/>
            <a:cxnLst/>
            <a:rect l="l" t="t" r="r" b="b"/>
            <a:pathLst>
              <a:path w="10576597" h="520161">
                <a:moveTo>
                  <a:pt x="0" y="0"/>
                </a:moveTo>
                <a:lnTo>
                  <a:pt x="10576597" y="0"/>
                </a:lnTo>
                <a:lnTo>
                  <a:pt x="10576597" y="520161"/>
                </a:lnTo>
                <a:lnTo>
                  <a:pt x="0" y="520161"/>
                </a:lnTo>
                <a:lnTo>
                  <a:pt x="0" y="0"/>
                </a:lnTo>
                <a:close/>
              </a:path>
            </a:pathLst>
          </a:custGeom>
          <a:blipFill>
            <a:blip r:embed="rId9"/>
            <a:stretch>
              <a:fillRect/>
            </a:stretch>
          </a:blipFill>
        </p:spPr>
      </p:sp>
      <p:sp>
        <p:nvSpPr>
          <p:cNvPr id="14" name="Freeform 14"/>
          <p:cNvSpPr/>
          <p:nvPr/>
        </p:nvSpPr>
        <p:spPr>
          <a:xfrm>
            <a:off x="14105114" y="0"/>
            <a:ext cx="2455102" cy="1715649"/>
          </a:xfrm>
          <a:custGeom>
            <a:avLst/>
            <a:gdLst/>
            <a:ahLst/>
            <a:cxnLst/>
            <a:rect l="l" t="t" r="r" b="b"/>
            <a:pathLst>
              <a:path w="2455102" h="1715649">
                <a:moveTo>
                  <a:pt x="0" y="0"/>
                </a:moveTo>
                <a:lnTo>
                  <a:pt x="2455103" y="0"/>
                </a:lnTo>
                <a:lnTo>
                  <a:pt x="2455103" y="1715649"/>
                </a:lnTo>
                <a:lnTo>
                  <a:pt x="0" y="1715649"/>
                </a:lnTo>
                <a:lnTo>
                  <a:pt x="0" y="0"/>
                </a:lnTo>
                <a:close/>
              </a:path>
            </a:pathLst>
          </a:custGeom>
          <a:blipFill>
            <a:blip r:embed="rId10"/>
            <a:stretch>
              <a:fillRect/>
            </a:stretch>
          </a:blipFill>
        </p:spPr>
      </p:sp>
      <p:sp>
        <p:nvSpPr>
          <p:cNvPr id="15" name="TextBox 15"/>
          <p:cNvSpPr txBox="1"/>
          <p:nvPr/>
        </p:nvSpPr>
        <p:spPr>
          <a:xfrm>
            <a:off x="268511" y="1575970"/>
            <a:ext cx="6611108" cy="669671"/>
          </a:xfrm>
          <a:prstGeom prst="rect">
            <a:avLst/>
          </a:prstGeom>
        </p:spPr>
        <p:txBody>
          <a:bodyPr lIns="0" tIns="0" rIns="0" bIns="0" rtlCol="0" anchor="t">
            <a:spAutoFit/>
          </a:bodyPr>
          <a:lstStyle/>
          <a:p>
            <a:pPr algn="ctr">
              <a:lnSpc>
                <a:spcPts val="5155"/>
              </a:lnSpc>
            </a:pPr>
            <a:r>
              <a:rPr lang="en-US" sz="6609">
                <a:solidFill>
                  <a:srgbClr val="FFFFFF"/>
                </a:solidFill>
                <a:effectLst>
                  <a:innerShdw blurRad="114300">
                    <a:prstClr val="black"/>
                  </a:innerShdw>
                </a:effectLst>
                <a:latin typeface="Funtastic"/>
                <a:ea typeface="Funtastic"/>
                <a:cs typeface="Funtastic"/>
                <a:sym typeface="Funtastic"/>
              </a:rPr>
              <a:t>PEMROGRAMAN</a:t>
            </a:r>
          </a:p>
        </p:txBody>
      </p:sp>
      <p:sp>
        <p:nvSpPr>
          <p:cNvPr id="16" name="TextBox 16"/>
          <p:cNvSpPr txBox="1"/>
          <p:nvPr/>
        </p:nvSpPr>
        <p:spPr>
          <a:xfrm>
            <a:off x="7774596" y="4643324"/>
            <a:ext cx="7836106" cy="1474937"/>
          </a:xfrm>
          <a:prstGeom prst="rect">
            <a:avLst/>
          </a:prstGeom>
        </p:spPr>
        <p:txBody>
          <a:bodyPr lIns="0" tIns="0" rIns="0" bIns="0" rtlCol="0" anchor="t">
            <a:spAutoFit/>
          </a:bodyPr>
          <a:lstStyle/>
          <a:p>
            <a:pPr algn="l">
              <a:lnSpc>
                <a:spcPts val="3754"/>
              </a:lnSpc>
            </a:pPr>
            <a:r>
              <a:rPr lang="en-US" sz="2681" spc="-53">
                <a:solidFill>
                  <a:srgbClr val="000000"/>
                </a:solidFill>
                <a:latin typeface="Jua"/>
                <a:ea typeface="Jua"/>
                <a:cs typeface="Jua"/>
                <a:sym typeface="Jua"/>
              </a:rPr>
              <a:t>Tanda # digunakan untuk membuat komentar. Komentar hanya menjadi keterangan bagi programmer dan tidak dijalankan oleh Python.</a:t>
            </a:r>
          </a:p>
        </p:txBody>
      </p:sp>
      <p:sp>
        <p:nvSpPr>
          <p:cNvPr id="17" name="TextBox 17"/>
          <p:cNvSpPr txBox="1"/>
          <p:nvPr/>
        </p:nvSpPr>
        <p:spPr>
          <a:xfrm>
            <a:off x="7524428" y="7792888"/>
            <a:ext cx="1890824" cy="1285479"/>
          </a:xfrm>
          <a:prstGeom prst="rect">
            <a:avLst/>
          </a:prstGeom>
        </p:spPr>
        <p:txBody>
          <a:bodyPr lIns="0" tIns="0" rIns="0" bIns="0" rtlCol="0" anchor="t">
            <a:spAutoFit/>
          </a:bodyPr>
          <a:lstStyle/>
          <a:p>
            <a:pPr algn="l">
              <a:lnSpc>
                <a:spcPts val="3257"/>
              </a:lnSpc>
            </a:pPr>
            <a:r>
              <a:rPr lang="en-US" sz="2326" spc="-46">
                <a:solidFill>
                  <a:srgbClr val="000000"/>
                </a:solidFill>
                <a:latin typeface="Jua"/>
                <a:ea typeface="Jua"/>
                <a:cs typeface="Jua"/>
                <a:sym typeface="Jua"/>
              </a:rPr>
              <a:t>variabel untuk menyimpan nilai tinggi segitiga</a:t>
            </a:r>
          </a:p>
        </p:txBody>
      </p:sp>
      <p:sp>
        <p:nvSpPr>
          <p:cNvPr id="18" name="TextBox 18"/>
          <p:cNvSpPr txBox="1"/>
          <p:nvPr/>
        </p:nvSpPr>
        <p:spPr>
          <a:xfrm>
            <a:off x="9935945" y="7792888"/>
            <a:ext cx="1728717" cy="2093532"/>
          </a:xfrm>
          <a:prstGeom prst="rect">
            <a:avLst/>
          </a:prstGeom>
        </p:spPr>
        <p:txBody>
          <a:bodyPr lIns="0" tIns="0" rIns="0" bIns="0" rtlCol="0" anchor="t">
            <a:spAutoFit/>
          </a:bodyPr>
          <a:lstStyle/>
          <a:p>
            <a:pPr algn="ctr">
              <a:lnSpc>
                <a:spcPts val="3258"/>
              </a:lnSpc>
            </a:pPr>
            <a:r>
              <a:rPr lang="en-US" sz="2327" spc="-46">
                <a:solidFill>
                  <a:srgbClr val="000000"/>
                </a:solidFill>
                <a:latin typeface="Jua"/>
                <a:ea typeface="Jua"/>
                <a:cs typeface="Jua"/>
                <a:sym typeface="Jua"/>
              </a:rPr>
              <a:t>mengubah masukan menjadi bilangan bulat.</a:t>
            </a:r>
          </a:p>
        </p:txBody>
      </p:sp>
      <p:sp>
        <p:nvSpPr>
          <p:cNvPr id="19" name="TextBox 19"/>
          <p:cNvSpPr txBox="1"/>
          <p:nvPr/>
        </p:nvSpPr>
        <p:spPr>
          <a:xfrm>
            <a:off x="11437602" y="7783363"/>
            <a:ext cx="2178976" cy="2427437"/>
          </a:xfrm>
          <a:prstGeom prst="rect">
            <a:avLst/>
          </a:prstGeom>
        </p:spPr>
        <p:txBody>
          <a:bodyPr lIns="0" tIns="0" rIns="0" bIns="0" rtlCol="0" anchor="t">
            <a:spAutoFit/>
          </a:bodyPr>
          <a:lstStyle/>
          <a:p>
            <a:pPr algn="ctr">
              <a:lnSpc>
                <a:spcPts val="3754"/>
              </a:lnSpc>
            </a:pPr>
            <a:r>
              <a:rPr lang="en-US" sz="2681" spc="-53">
                <a:solidFill>
                  <a:srgbClr val="000000"/>
                </a:solidFill>
                <a:latin typeface="Jua"/>
                <a:ea typeface="Jua"/>
                <a:cs typeface="Jua"/>
                <a:sym typeface="Jua"/>
              </a:rPr>
              <a:t>digunakan untuk menerima masukan dari pengguna.</a:t>
            </a:r>
          </a:p>
        </p:txBody>
      </p:sp>
      <p:sp>
        <p:nvSpPr>
          <p:cNvPr id="20" name="TextBox 20"/>
          <p:cNvSpPr txBox="1"/>
          <p:nvPr/>
        </p:nvSpPr>
        <p:spPr>
          <a:xfrm>
            <a:off x="14665290" y="7792888"/>
            <a:ext cx="1890824" cy="872209"/>
          </a:xfrm>
          <a:prstGeom prst="rect">
            <a:avLst/>
          </a:prstGeom>
        </p:spPr>
        <p:txBody>
          <a:bodyPr lIns="0" tIns="0" rIns="0" bIns="0" rtlCol="0" anchor="t">
            <a:spAutoFit/>
          </a:bodyPr>
          <a:lstStyle/>
          <a:p>
            <a:pPr algn="l">
              <a:lnSpc>
                <a:spcPts val="3257"/>
              </a:lnSpc>
            </a:pPr>
            <a:r>
              <a:rPr lang="en-US" sz="2326" spc="-46">
                <a:solidFill>
                  <a:srgbClr val="000000"/>
                </a:solidFill>
                <a:latin typeface="Jua"/>
                <a:ea typeface="Jua"/>
                <a:cs typeface="Jua"/>
                <a:sym typeface="Jua"/>
              </a:rPr>
              <a:t>tulisan yang muncul di layar.</a:t>
            </a:r>
          </a:p>
        </p:txBody>
      </p:sp>
      <p:sp>
        <p:nvSpPr>
          <p:cNvPr id="21" name="TextBox 21"/>
          <p:cNvSpPr txBox="1"/>
          <p:nvPr/>
        </p:nvSpPr>
        <p:spPr>
          <a:xfrm>
            <a:off x="7106902" y="1566445"/>
            <a:ext cx="9744814" cy="633635"/>
          </a:xfrm>
          <a:prstGeom prst="rect">
            <a:avLst/>
          </a:prstGeom>
        </p:spPr>
        <p:txBody>
          <a:bodyPr lIns="0" tIns="0" rIns="0" bIns="0" rtlCol="0" anchor="t">
            <a:spAutoFit/>
          </a:bodyPr>
          <a:lstStyle/>
          <a:p>
            <a:pPr algn="ctr">
              <a:lnSpc>
                <a:spcPts val="4936"/>
              </a:lnSpc>
            </a:pPr>
            <a:r>
              <a:rPr lang="en-US" sz="6329" dirty="0">
                <a:solidFill>
                  <a:srgbClr val="FFFFFF"/>
                </a:solidFill>
                <a:effectLst>
                  <a:innerShdw blurRad="114300">
                    <a:prstClr val="black"/>
                  </a:innerShdw>
                </a:effectLst>
                <a:latin typeface="Funtastic"/>
                <a:ea typeface="Funtastic"/>
                <a:cs typeface="Funtastic"/>
                <a:sym typeface="Funtastic"/>
              </a:rPr>
              <a:t>PENJELASAN PER-BARIS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532731" y="2849831"/>
            <a:ext cx="11005713" cy="2806779"/>
            <a:chOff x="0" y="0"/>
            <a:chExt cx="14674284" cy="3742372"/>
          </a:xfrm>
        </p:grpSpPr>
        <p:sp>
          <p:nvSpPr>
            <p:cNvPr id="6" name="Freeform 6"/>
            <p:cNvSpPr/>
            <p:nvPr/>
          </p:nvSpPr>
          <p:spPr>
            <a:xfrm rot="5400000">
              <a:off x="6281849" y="792158"/>
              <a:ext cx="1782146" cy="775233"/>
            </a:xfrm>
            <a:custGeom>
              <a:avLst/>
              <a:gdLst/>
              <a:ahLst/>
              <a:cxnLst/>
              <a:rect l="l" t="t" r="r" b="b"/>
              <a:pathLst>
                <a:path w="1782146" h="775233">
                  <a:moveTo>
                    <a:pt x="0" y="0"/>
                  </a:moveTo>
                  <a:lnTo>
                    <a:pt x="1782145" y="0"/>
                  </a:lnTo>
                  <a:lnTo>
                    <a:pt x="1782145" y="775233"/>
                  </a:lnTo>
                  <a:lnTo>
                    <a:pt x="0" y="775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2817747" y="1966073"/>
              <a:ext cx="9375147" cy="1776299"/>
            </a:xfrm>
            <a:prstGeom prst="rect">
              <a:avLst/>
            </a:prstGeom>
          </p:spPr>
          <p:txBody>
            <a:bodyPr wrap="square" lIns="0" tIns="0" rIns="0" bIns="0" rtlCol="0" anchor="t">
              <a:spAutoFit/>
            </a:bodyPr>
            <a:lstStyle/>
            <a:p>
              <a:pPr algn="just">
                <a:lnSpc>
                  <a:spcPts val="3561"/>
                </a:lnSpc>
              </a:pPr>
              <a:r>
                <a:rPr lang="en-US" sz="2544" spc="-50" dirty="0" err="1">
                  <a:solidFill>
                    <a:srgbClr val="000000"/>
                  </a:solidFill>
                  <a:latin typeface="Jua"/>
                  <a:ea typeface="Jua"/>
                  <a:cs typeface="Jua"/>
                  <a:sym typeface="Jua"/>
                </a:rPr>
                <a:t>komentar</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ini</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menjelaskan</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bahwa</a:t>
              </a:r>
              <a:r>
                <a:rPr lang="en-US" sz="2544" spc="-50" dirty="0">
                  <a:solidFill>
                    <a:srgbClr val="000000"/>
                  </a:solidFill>
                  <a:latin typeface="Jua"/>
                  <a:ea typeface="Jua"/>
                  <a:cs typeface="Jua"/>
                  <a:sym typeface="Jua"/>
                </a:rPr>
                <a:t> program </a:t>
              </a:r>
              <a:r>
                <a:rPr lang="en-US" sz="2544" spc="-50" dirty="0" err="1">
                  <a:solidFill>
                    <a:srgbClr val="000000"/>
                  </a:solidFill>
                  <a:latin typeface="Jua"/>
                  <a:ea typeface="Jua"/>
                  <a:cs typeface="Jua"/>
                  <a:sym typeface="Jua"/>
                </a:rPr>
                <a:t>akan</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menggunakan</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perulangan</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luar</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untuk</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mengatur</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jumlah</a:t>
              </a:r>
              <a:r>
                <a:rPr lang="en-US" sz="2544" spc="-50" dirty="0">
                  <a:solidFill>
                    <a:srgbClr val="000000"/>
                  </a:solidFill>
                  <a:latin typeface="Jua"/>
                  <a:ea typeface="Jua"/>
                  <a:cs typeface="Jua"/>
                  <a:sym typeface="Jua"/>
                </a:rPr>
                <a:t> baris </a:t>
              </a:r>
              <a:r>
                <a:rPr lang="en-US" sz="2544" spc="-50" dirty="0" err="1">
                  <a:solidFill>
                    <a:srgbClr val="000000"/>
                  </a:solidFill>
                  <a:latin typeface="Jua"/>
                  <a:ea typeface="Jua"/>
                  <a:cs typeface="Jua"/>
                  <a:sym typeface="Jua"/>
                </a:rPr>
                <a:t>segitiga</a:t>
              </a:r>
              <a:endParaRPr lang="en-US" sz="2544" spc="-50" dirty="0">
                <a:solidFill>
                  <a:srgbClr val="000000"/>
                </a:solidFill>
                <a:latin typeface="Jua"/>
                <a:ea typeface="Jua"/>
                <a:cs typeface="Jua"/>
                <a:sym typeface="Jua"/>
              </a:endParaRPr>
            </a:p>
          </p:txBody>
        </p:sp>
        <p:sp>
          <p:nvSpPr>
            <p:cNvPr id="8" name="Freeform 8"/>
            <p:cNvSpPr/>
            <p:nvPr/>
          </p:nvSpPr>
          <p:spPr>
            <a:xfrm>
              <a:off x="0" y="0"/>
              <a:ext cx="14674284" cy="1002272"/>
            </a:xfrm>
            <a:custGeom>
              <a:avLst/>
              <a:gdLst/>
              <a:ahLst/>
              <a:cxnLst/>
              <a:rect l="l" t="t" r="r" b="b"/>
              <a:pathLst>
                <a:path w="14674284" h="1002272">
                  <a:moveTo>
                    <a:pt x="0" y="0"/>
                  </a:moveTo>
                  <a:lnTo>
                    <a:pt x="14674284" y="0"/>
                  </a:lnTo>
                  <a:lnTo>
                    <a:pt x="14674284" y="1002272"/>
                  </a:lnTo>
                  <a:lnTo>
                    <a:pt x="0" y="1002272"/>
                  </a:lnTo>
                  <a:lnTo>
                    <a:pt x="0" y="0"/>
                  </a:lnTo>
                  <a:close/>
                </a:path>
              </a:pathLst>
            </a:custGeom>
            <a:blipFill>
              <a:blip r:embed="rId6"/>
              <a:stretch>
                <a:fillRect/>
              </a:stretch>
            </a:blipFill>
          </p:spPr>
        </p:sp>
      </p:grpSp>
      <p:grpSp>
        <p:nvGrpSpPr>
          <p:cNvPr id="9" name="Group 9"/>
          <p:cNvGrpSpPr/>
          <p:nvPr/>
        </p:nvGrpSpPr>
        <p:grpSpPr>
          <a:xfrm>
            <a:off x="5123690" y="5382991"/>
            <a:ext cx="11861544" cy="4904010"/>
            <a:chOff x="0" y="-114300"/>
            <a:chExt cx="15815392" cy="6538679"/>
          </a:xfrm>
        </p:grpSpPr>
        <p:sp>
          <p:nvSpPr>
            <p:cNvPr id="10" name="Freeform 10"/>
            <p:cNvSpPr/>
            <p:nvPr/>
          </p:nvSpPr>
          <p:spPr>
            <a:xfrm rot="5400000">
              <a:off x="13430920" y="3595626"/>
              <a:ext cx="1724153" cy="750007"/>
            </a:xfrm>
            <a:custGeom>
              <a:avLst/>
              <a:gdLst/>
              <a:ahLst/>
              <a:cxnLst/>
              <a:rect l="l" t="t" r="r" b="b"/>
              <a:pathLst>
                <a:path w="1724153" h="750007">
                  <a:moveTo>
                    <a:pt x="0" y="0"/>
                  </a:moveTo>
                  <a:lnTo>
                    <a:pt x="1724153" y="0"/>
                  </a:lnTo>
                  <a:lnTo>
                    <a:pt x="1724153" y="750007"/>
                  </a:lnTo>
                  <a:lnTo>
                    <a:pt x="0" y="7500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5400000">
              <a:off x="1246429" y="3322533"/>
              <a:ext cx="1676658" cy="729346"/>
            </a:xfrm>
            <a:custGeom>
              <a:avLst/>
              <a:gdLst/>
              <a:ahLst/>
              <a:cxnLst/>
              <a:rect l="l" t="t" r="r" b="b"/>
              <a:pathLst>
                <a:path w="1676658" h="729346">
                  <a:moveTo>
                    <a:pt x="0" y="0"/>
                  </a:moveTo>
                  <a:lnTo>
                    <a:pt x="1676659" y="0"/>
                  </a:lnTo>
                  <a:lnTo>
                    <a:pt x="1676659" y="729347"/>
                  </a:lnTo>
                  <a:lnTo>
                    <a:pt x="0" y="7293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5400000">
              <a:off x="2170536" y="2390433"/>
              <a:ext cx="1762052" cy="766493"/>
            </a:xfrm>
            <a:custGeom>
              <a:avLst/>
              <a:gdLst/>
              <a:ahLst/>
              <a:cxnLst/>
              <a:rect l="l" t="t" r="r" b="b"/>
              <a:pathLst>
                <a:path w="1762052" h="766493">
                  <a:moveTo>
                    <a:pt x="0" y="0"/>
                  </a:moveTo>
                  <a:lnTo>
                    <a:pt x="1762053" y="0"/>
                  </a:lnTo>
                  <a:lnTo>
                    <a:pt x="1762053" y="766493"/>
                  </a:lnTo>
                  <a:lnTo>
                    <a:pt x="0" y="766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rot="5400000">
              <a:off x="4838575" y="3221875"/>
              <a:ext cx="1320347" cy="574351"/>
            </a:xfrm>
            <a:custGeom>
              <a:avLst/>
              <a:gdLst/>
              <a:ahLst/>
              <a:cxnLst/>
              <a:rect l="l" t="t" r="r" b="b"/>
              <a:pathLst>
                <a:path w="1320347" h="574351">
                  <a:moveTo>
                    <a:pt x="0" y="0"/>
                  </a:moveTo>
                  <a:lnTo>
                    <a:pt x="1320347" y="0"/>
                  </a:lnTo>
                  <a:lnTo>
                    <a:pt x="1320347" y="574351"/>
                  </a:lnTo>
                  <a:lnTo>
                    <a:pt x="0" y="5743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5400000">
              <a:off x="9888951" y="2465631"/>
              <a:ext cx="1762052" cy="766493"/>
            </a:xfrm>
            <a:custGeom>
              <a:avLst/>
              <a:gdLst/>
              <a:ahLst/>
              <a:cxnLst/>
              <a:rect l="l" t="t" r="r" b="b"/>
              <a:pathLst>
                <a:path w="1762052" h="766493">
                  <a:moveTo>
                    <a:pt x="0" y="0"/>
                  </a:moveTo>
                  <a:lnTo>
                    <a:pt x="1762053" y="0"/>
                  </a:lnTo>
                  <a:lnTo>
                    <a:pt x="1762053" y="766493"/>
                  </a:lnTo>
                  <a:lnTo>
                    <a:pt x="0" y="766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0" y="2848877"/>
              <a:ext cx="14962274" cy="805828"/>
            </a:xfrm>
            <a:custGeom>
              <a:avLst/>
              <a:gdLst/>
              <a:ahLst/>
              <a:cxnLst/>
              <a:rect l="l" t="t" r="r" b="b"/>
              <a:pathLst>
                <a:path w="14962274" h="805828">
                  <a:moveTo>
                    <a:pt x="0" y="0"/>
                  </a:moveTo>
                  <a:lnTo>
                    <a:pt x="14962274" y="0"/>
                  </a:lnTo>
                  <a:lnTo>
                    <a:pt x="14962274" y="805829"/>
                  </a:lnTo>
                  <a:lnTo>
                    <a:pt x="0" y="805829"/>
                  </a:lnTo>
                  <a:lnTo>
                    <a:pt x="0" y="0"/>
                  </a:lnTo>
                  <a:close/>
                </a:path>
              </a:pathLst>
            </a:custGeom>
            <a:blipFill>
              <a:blip r:embed="rId7"/>
              <a:stretch>
                <a:fillRect/>
              </a:stretch>
            </a:blipFill>
          </p:spPr>
        </p:sp>
        <p:sp>
          <p:nvSpPr>
            <p:cNvPr id="16" name="TextBox 16"/>
            <p:cNvSpPr txBox="1"/>
            <p:nvPr/>
          </p:nvSpPr>
          <p:spPr>
            <a:xfrm>
              <a:off x="9645040" y="-114300"/>
              <a:ext cx="3581487" cy="1977246"/>
            </a:xfrm>
            <a:prstGeom prst="rect">
              <a:avLst/>
            </a:prstGeom>
          </p:spPr>
          <p:txBody>
            <a:bodyPr wrap="square" lIns="0" tIns="0" rIns="0" bIns="0" rtlCol="0" anchor="t">
              <a:spAutoFit/>
            </a:bodyPr>
            <a:lstStyle/>
            <a:p>
              <a:pPr algn="ctr">
                <a:lnSpc>
                  <a:spcPts val="3855"/>
                </a:lnSpc>
              </a:pPr>
              <a:r>
                <a:rPr lang="en-US" sz="2753" spc="-55" dirty="0" err="1">
                  <a:solidFill>
                    <a:srgbClr val="000000"/>
                  </a:solidFill>
                  <a:latin typeface="Jua"/>
                  <a:ea typeface="Jua"/>
                  <a:cs typeface="Jua"/>
                  <a:sym typeface="Jua"/>
                </a:rPr>
                <a:t>digunakan</a:t>
              </a:r>
              <a:r>
                <a:rPr lang="en-US" sz="2753" spc="-55" dirty="0">
                  <a:solidFill>
                    <a:srgbClr val="000000"/>
                  </a:solidFill>
                  <a:latin typeface="Jua"/>
                  <a:ea typeface="Jua"/>
                  <a:cs typeface="Jua"/>
                  <a:sym typeface="Jua"/>
                </a:rPr>
                <a:t> agar </a:t>
              </a:r>
              <a:r>
                <a:rPr lang="en-US" sz="2753" spc="-55" dirty="0" err="1">
                  <a:solidFill>
                    <a:srgbClr val="000000"/>
                  </a:solidFill>
                  <a:latin typeface="Jua"/>
                  <a:ea typeface="Jua"/>
                  <a:cs typeface="Jua"/>
                  <a:sym typeface="Jua"/>
                </a:rPr>
                <a:t>angka</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tinggi</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ikut</a:t>
              </a:r>
              <a:r>
                <a:rPr lang="en-US" sz="2753" spc="-55" dirty="0">
                  <a:solidFill>
                    <a:srgbClr val="000000"/>
                  </a:solidFill>
                  <a:latin typeface="Jua"/>
                  <a:ea typeface="Jua"/>
                  <a:cs typeface="Jua"/>
                  <a:sym typeface="Jua"/>
                </a:rPr>
                <a:t> di proses</a:t>
              </a:r>
            </a:p>
          </p:txBody>
        </p:sp>
        <p:sp>
          <p:nvSpPr>
            <p:cNvPr id="17" name="TextBox 17"/>
            <p:cNvSpPr txBox="1"/>
            <p:nvPr/>
          </p:nvSpPr>
          <p:spPr>
            <a:xfrm>
              <a:off x="13226528" y="4718193"/>
              <a:ext cx="2588864" cy="1706186"/>
            </a:xfrm>
            <a:prstGeom prst="rect">
              <a:avLst/>
            </a:prstGeom>
          </p:spPr>
          <p:txBody>
            <a:bodyPr lIns="0" tIns="0" rIns="0" bIns="0" rtlCol="0" anchor="t">
              <a:spAutoFit/>
            </a:bodyPr>
            <a:lstStyle/>
            <a:p>
              <a:pPr algn="ctr">
                <a:lnSpc>
                  <a:spcPts val="3345"/>
                </a:lnSpc>
              </a:pPr>
              <a:r>
                <a:rPr lang="en-US" sz="2389" spc="-47">
                  <a:solidFill>
                    <a:srgbClr val="000000"/>
                  </a:solidFill>
                  <a:latin typeface="Jua"/>
                  <a:ea typeface="Jua"/>
                  <a:cs typeface="Jua"/>
                  <a:sym typeface="Jua"/>
                </a:rPr>
                <a:t>menandai awal blok kode perulangan</a:t>
              </a:r>
            </a:p>
          </p:txBody>
        </p:sp>
        <p:sp>
          <p:nvSpPr>
            <p:cNvPr id="18" name="TextBox 18"/>
            <p:cNvSpPr txBox="1"/>
            <p:nvPr/>
          </p:nvSpPr>
          <p:spPr>
            <a:xfrm>
              <a:off x="845945" y="4262440"/>
              <a:ext cx="2588864" cy="1706186"/>
            </a:xfrm>
            <a:prstGeom prst="rect">
              <a:avLst/>
            </a:prstGeom>
          </p:spPr>
          <p:txBody>
            <a:bodyPr lIns="0" tIns="0" rIns="0" bIns="0" rtlCol="0" anchor="t">
              <a:spAutoFit/>
            </a:bodyPr>
            <a:lstStyle/>
            <a:p>
              <a:pPr algn="ctr">
                <a:lnSpc>
                  <a:spcPts val="3345"/>
                </a:lnSpc>
              </a:pPr>
              <a:r>
                <a:rPr lang="en-US" sz="2389" spc="-47">
                  <a:solidFill>
                    <a:srgbClr val="000000"/>
                  </a:solidFill>
                  <a:latin typeface="Jua"/>
                  <a:ea typeface="Jua"/>
                  <a:cs typeface="Jua"/>
                  <a:sym typeface="Jua"/>
                </a:rPr>
                <a:t>ini untuk melakukan perulangan</a:t>
              </a:r>
            </a:p>
          </p:txBody>
        </p:sp>
        <p:sp>
          <p:nvSpPr>
            <p:cNvPr id="19" name="TextBox 19"/>
            <p:cNvSpPr txBox="1"/>
            <p:nvPr/>
          </p:nvSpPr>
          <p:spPr>
            <a:xfrm>
              <a:off x="4315293" y="4064449"/>
              <a:ext cx="2366911" cy="2266947"/>
            </a:xfrm>
            <a:prstGeom prst="rect">
              <a:avLst/>
            </a:prstGeom>
          </p:spPr>
          <p:txBody>
            <a:bodyPr lIns="0" tIns="0" rIns="0" bIns="0" rtlCol="0" anchor="t">
              <a:spAutoFit/>
            </a:bodyPr>
            <a:lstStyle/>
            <a:p>
              <a:pPr algn="ctr">
                <a:lnSpc>
                  <a:spcPts val="3346"/>
                </a:lnSpc>
              </a:pPr>
              <a:r>
                <a:rPr lang="en-US" sz="2390" spc="-47">
                  <a:solidFill>
                    <a:srgbClr val="000000"/>
                  </a:solidFill>
                  <a:latin typeface="Jua"/>
                  <a:ea typeface="Jua"/>
                  <a:cs typeface="Jua"/>
                  <a:sym typeface="Jua"/>
                </a:rPr>
                <a:t>membuat urutan angka yang mulainya dari 1</a:t>
              </a:r>
            </a:p>
          </p:txBody>
        </p:sp>
        <p:sp>
          <p:nvSpPr>
            <p:cNvPr id="20" name="TextBox 20"/>
            <p:cNvSpPr txBox="1"/>
            <p:nvPr/>
          </p:nvSpPr>
          <p:spPr>
            <a:xfrm>
              <a:off x="1215863" y="766877"/>
              <a:ext cx="3465932" cy="1065933"/>
            </a:xfrm>
            <a:prstGeom prst="rect">
              <a:avLst/>
            </a:prstGeom>
          </p:spPr>
          <p:txBody>
            <a:bodyPr wrap="square" lIns="0" tIns="0" rIns="0" bIns="0" rtlCol="0" anchor="t">
              <a:spAutoFit/>
            </a:bodyPr>
            <a:lstStyle/>
            <a:p>
              <a:pPr algn="ctr">
                <a:lnSpc>
                  <a:spcPts val="3346"/>
                </a:lnSpc>
              </a:pPr>
              <a:r>
                <a:rPr lang="en-US" sz="2390" spc="-47" dirty="0" err="1">
                  <a:solidFill>
                    <a:srgbClr val="000000"/>
                  </a:solidFill>
                  <a:latin typeface="Jua"/>
                  <a:ea typeface="Jua"/>
                  <a:cs typeface="Jua"/>
                  <a:sym typeface="Jua"/>
                </a:rPr>
                <a:t>Variabel</a:t>
              </a:r>
              <a:r>
                <a:rPr lang="en-US" sz="2390" spc="-47" dirty="0">
                  <a:solidFill>
                    <a:srgbClr val="000000"/>
                  </a:solidFill>
                  <a:latin typeface="Jua"/>
                  <a:ea typeface="Jua"/>
                  <a:cs typeface="Jua"/>
                  <a:sym typeface="Jua"/>
                </a:rPr>
                <a:t> </a:t>
              </a:r>
              <a:r>
                <a:rPr lang="en-US" sz="2390" spc="-47" dirty="0" err="1">
                  <a:solidFill>
                    <a:srgbClr val="000000"/>
                  </a:solidFill>
                  <a:latin typeface="Jua"/>
                  <a:ea typeface="Jua"/>
                  <a:cs typeface="Jua"/>
                  <a:sym typeface="Jua"/>
                </a:rPr>
                <a:t>penghitung</a:t>
              </a:r>
              <a:r>
                <a:rPr lang="en-US" sz="2390" spc="-47" dirty="0">
                  <a:solidFill>
                    <a:srgbClr val="000000"/>
                  </a:solidFill>
                  <a:latin typeface="Jua"/>
                  <a:ea typeface="Jua"/>
                  <a:cs typeface="Jua"/>
                  <a:sym typeface="Jua"/>
                </a:rPr>
                <a:t> baris</a:t>
              </a:r>
            </a:p>
          </p:txBody>
        </p:sp>
      </p:grpSp>
      <p:sp>
        <p:nvSpPr>
          <p:cNvPr id="21" name="Freeform 21"/>
          <p:cNvSpPr/>
          <p:nvPr/>
        </p:nvSpPr>
        <p:spPr>
          <a:xfrm>
            <a:off x="0" y="7877858"/>
            <a:ext cx="3766147" cy="2077700"/>
          </a:xfrm>
          <a:custGeom>
            <a:avLst/>
            <a:gdLst/>
            <a:ahLst/>
            <a:cxnLst/>
            <a:rect l="l" t="t" r="r" b="b"/>
            <a:pathLst>
              <a:path w="3766147" h="2077700">
                <a:moveTo>
                  <a:pt x="0" y="0"/>
                </a:moveTo>
                <a:lnTo>
                  <a:pt x="3766147" y="0"/>
                </a:lnTo>
                <a:lnTo>
                  <a:pt x="3766147" y="2077700"/>
                </a:lnTo>
                <a:lnTo>
                  <a:pt x="0" y="2077700"/>
                </a:lnTo>
                <a:lnTo>
                  <a:pt x="0" y="0"/>
                </a:lnTo>
                <a:close/>
              </a:path>
            </a:pathLst>
          </a:custGeom>
          <a:blipFill>
            <a:blip r:embed="rId8"/>
            <a:stretch>
              <a:fillRect/>
            </a:stretch>
          </a:blipFill>
        </p:spPr>
      </p:sp>
      <p:sp>
        <p:nvSpPr>
          <p:cNvPr id="22" name="Freeform 22"/>
          <p:cNvSpPr/>
          <p:nvPr/>
        </p:nvSpPr>
        <p:spPr>
          <a:xfrm>
            <a:off x="15401198" y="2144046"/>
            <a:ext cx="2445250" cy="2445250"/>
          </a:xfrm>
          <a:custGeom>
            <a:avLst/>
            <a:gdLst/>
            <a:ahLst/>
            <a:cxnLst/>
            <a:rect l="l" t="t" r="r" b="b"/>
            <a:pathLst>
              <a:path w="2445250" h="2445250">
                <a:moveTo>
                  <a:pt x="0" y="0"/>
                </a:moveTo>
                <a:lnTo>
                  <a:pt x="2445250" y="0"/>
                </a:lnTo>
                <a:lnTo>
                  <a:pt x="2445250" y="2445251"/>
                </a:lnTo>
                <a:lnTo>
                  <a:pt x="0" y="2445251"/>
                </a:lnTo>
                <a:lnTo>
                  <a:pt x="0" y="0"/>
                </a:lnTo>
                <a:close/>
              </a:path>
            </a:pathLst>
          </a:custGeom>
          <a:blipFill>
            <a:blip r:embed="rId9"/>
            <a:stretch>
              <a:fillRect/>
            </a:stretch>
          </a:blipFill>
        </p:spPr>
      </p:sp>
      <p:sp>
        <p:nvSpPr>
          <p:cNvPr id="23" name="TextBox 23"/>
          <p:cNvSpPr txBox="1"/>
          <p:nvPr/>
        </p:nvSpPr>
        <p:spPr>
          <a:xfrm>
            <a:off x="440484" y="984830"/>
            <a:ext cx="16544750" cy="1083502"/>
          </a:xfrm>
          <a:prstGeom prst="rect">
            <a:avLst/>
          </a:prstGeom>
        </p:spPr>
        <p:txBody>
          <a:bodyPr lIns="0" tIns="0" rIns="0" bIns="0" rtlCol="0" anchor="t">
            <a:spAutoFit/>
          </a:bodyPr>
          <a:lstStyle/>
          <a:p>
            <a:pPr algn="ctr">
              <a:lnSpc>
                <a:spcPts val="8382"/>
              </a:lnSpc>
            </a:pPr>
            <a:r>
              <a:rPr lang="en-US" sz="10746" dirty="0">
                <a:solidFill>
                  <a:srgbClr val="FFFFFF"/>
                </a:solidFill>
                <a:effectLst>
                  <a:innerShdw blurRad="114300">
                    <a:prstClr val="black"/>
                  </a:innerShdw>
                </a:effectLst>
                <a:latin typeface="Funtastic"/>
                <a:ea typeface="Funtastic"/>
                <a:cs typeface="Funtastic"/>
                <a:sym typeface="Funtastic"/>
              </a:rPr>
              <a:t>PENJELASAN PER-BARIS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rot="5400000">
            <a:off x="11867780" y="8158132"/>
            <a:ext cx="1293115" cy="562505"/>
          </a:xfrm>
          <a:custGeom>
            <a:avLst/>
            <a:gdLst/>
            <a:ahLst/>
            <a:cxnLst/>
            <a:rect l="l" t="t" r="r" b="b"/>
            <a:pathLst>
              <a:path w="1293115" h="562505">
                <a:moveTo>
                  <a:pt x="0" y="0"/>
                </a:moveTo>
                <a:lnTo>
                  <a:pt x="1293115" y="0"/>
                </a:lnTo>
                <a:lnTo>
                  <a:pt x="1293115" y="562505"/>
                </a:lnTo>
                <a:lnTo>
                  <a:pt x="0" y="5625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10099396" y="7405501"/>
            <a:ext cx="1321539" cy="574870"/>
          </a:xfrm>
          <a:custGeom>
            <a:avLst/>
            <a:gdLst/>
            <a:ahLst/>
            <a:cxnLst/>
            <a:rect l="l" t="t" r="r" b="b"/>
            <a:pathLst>
              <a:path w="1321539" h="574870">
                <a:moveTo>
                  <a:pt x="0" y="0"/>
                </a:moveTo>
                <a:lnTo>
                  <a:pt x="1321539" y="0"/>
                </a:lnTo>
                <a:lnTo>
                  <a:pt x="1321539" y="574869"/>
                </a:lnTo>
                <a:lnTo>
                  <a:pt x="0" y="574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440484" y="2468280"/>
            <a:ext cx="11013734" cy="4476325"/>
            <a:chOff x="0" y="-453551"/>
            <a:chExt cx="14684979" cy="5968434"/>
          </a:xfrm>
        </p:grpSpPr>
        <p:sp>
          <p:nvSpPr>
            <p:cNvPr id="8" name="Freeform 8"/>
            <p:cNvSpPr/>
            <p:nvPr/>
          </p:nvSpPr>
          <p:spPr>
            <a:xfrm rot="5400000">
              <a:off x="4874537" y="2465713"/>
              <a:ext cx="1782146" cy="775233"/>
            </a:xfrm>
            <a:custGeom>
              <a:avLst/>
              <a:gdLst/>
              <a:ahLst/>
              <a:cxnLst/>
              <a:rect l="l" t="t" r="r" b="b"/>
              <a:pathLst>
                <a:path w="1782146" h="775233">
                  <a:moveTo>
                    <a:pt x="0" y="0"/>
                  </a:moveTo>
                  <a:lnTo>
                    <a:pt x="1782146" y="0"/>
                  </a:lnTo>
                  <a:lnTo>
                    <a:pt x="1782146" y="775234"/>
                  </a:lnTo>
                  <a:lnTo>
                    <a:pt x="0" y="7752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5400000">
              <a:off x="3402636" y="1211948"/>
              <a:ext cx="1762052" cy="766493"/>
            </a:xfrm>
            <a:custGeom>
              <a:avLst/>
              <a:gdLst/>
              <a:ahLst/>
              <a:cxnLst/>
              <a:rect l="l" t="t" r="r" b="b"/>
              <a:pathLst>
                <a:path w="1762052" h="766493">
                  <a:moveTo>
                    <a:pt x="0" y="0"/>
                  </a:moveTo>
                  <a:lnTo>
                    <a:pt x="1762053" y="0"/>
                  </a:lnTo>
                  <a:lnTo>
                    <a:pt x="1762053" y="766493"/>
                  </a:lnTo>
                  <a:lnTo>
                    <a:pt x="0" y="766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a:off x="8830915" y="2471378"/>
              <a:ext cx="1782146" cy="775233"/>
            </a:xfrm>
            <a:custGeom>
              <a:avLst/>
              <a:gdLst/>
              <a:ahLst/>
              <a:cxnLst/>
              <a:rect l="l" t="t" r="r" b="b"/>
              <a:pathLst>
                <a:path w="1782146" h="775233">
                  <a:moveTo>
                    <a:pt x="0" y="0"/>
                  </a:moveTo>
                  <a:lnTo>
                    <a:pt x="1782146" y="0"/>
                  </a:lnTo>
                  <a:lnTo>
                    <a:pt x="1782146" y="775233"/>
                  </a:lnTo>
                  <a:lnTo>
                    <a:pt x="0" y="7752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0" y="1666677"/>
              <a:ext cx="14684979" cy="1134373"/>
            </a:xfrm>
            <a:custGeom>
              <a:avLst/>
              <a:gdLst/>
              <a:ahLst/>
              <a:cxnLst/>
              <a:rect l="l" t="t" r="r" b="b"/>
              <a:pathLst>
                <a:path w="14684979" h="1134373">
                  <a:moveTo>
                    <a:pt x="0" y="0"/>
                  </a:moveTo>
                  <a:lnTo>
                    <a:pt x="14684979" y="0"/>
                  </a:lnTo>
                  <a:lnTo>
                    <a:pt x="14684979" y="1134373"/>
                  </a:lnTo>
                  <a:lnTo>
                    <a:pt x="0" y="1134373"/>
                  </a:lnTo>
                  <a:lnTo>
                    <a:pt x="0" y="0"/>
                  </a:lnTo>
                  <a:close/>
                </a:path>
              </a:pathLst>
            </a:custGeom>
            <a:blipFill>
              <a:blip r:embed="rId6"/>
              <a:stretch>
                <a:fillRect/>
              </a:stretch>
            </a:blipFill>
          </p:spPr>
        </p:sp>
        <p:sp>
          <p:nvSpPr>
            <p:cNvPr id="12" name="TextBox 12"/>
            <p:cNvSpPr txBox="1"/>
            <p:nvPr/>
          </p:nvSpPr>
          <p:spPr>
            <a:xfrm>
              <a:off x="2230448" y="-453551"/>
              <a:ext cx="4453752" cy="615513"/>
            </a:xfrm>
            <a:prstGeom prst="rect">
              <a:avLst/>
            </a:prstGeom>
          </p:spPr>
          <p:txBody>
            <a:bodyPr lIns="0" tIns="0" rIns="0" bIns="0" rtlCol="0" anchor="t">
              <a:spAutoFit/>
            </a:bodyPr>
            <a:lstStyle/>
            <a:p>
              <a:pPr algn="ctr">
                <a:lnSpc>
                  <a:spcPts val="3561"/>
                </a:lnSpc>
              </a:pPr>
              <a:r>
                <a:rPr lang="en-US" sz="2544" spc="-50" dirty="0" err="1">
                  <a:solidFill>
                    <a:srgbClr val="000000"/>
                  </a:solidFill>
                  <a:latin typeface="Jua"/>
                  <a:ea typeface="Jua"/>
                  <a:cs typeface="Jua"/>
                  <a:sym typeface="Jua"/>
                </a:rPr>
                <a:t>menjalankan</a:t>
              </a:r>
              <a:r>
                <a:rPr lang="en-US" sz="2544" spc="-50" dirty="0">
                  <a:solidFill>
                    <a:srgbClr val="000000"/>
                  </a:solidFill>
                  <a:latin typeface="Jua"/>
                  <a:ea typeface="Jua"/>
                  <a:cs typeface="Jua"/>
                  <a:sym typeface="Jua"/>
                </a:rPr>
                <a:t> </a:t>
              </a:r>
              <a:r>
                <a:rPr lang="en-US" sz="2544" spc="-50" dirty="0" err="1">
                  <a:solidFill>
                    <a:srgbClr val="000000"/>
                  </a:solidFill>
                  <a:latin typeface="Jua"/>
                  <a:ea typeface="Jua"/>
                  <a:cs typeface="Jua"/>
                  <a:sym typeface="Jua"/>
                </a:rPr>
                <a:t>perulangan</a:t>
              </a:r>
              <a:endParaRPr lang="en-US" sz="2544" spc="-50" dirty="0">
                <a:solidFill>
                  <a:srgbClr val="000000"/>
                </a:solidFill>
                <a:latin typeface="Jua"/>
                <a:ea typeface="Jua"/>
                <a:cs typeface="Jua"/>
                <a:sym typeface="Jua"/>
              </a:endParaRPr>
            </a:p>
          </p:txBody>
        </p:sp>
        <p:sp>
          <p:nvSpPr>
            <p:cNvPr id="13" name="TextBox 13"/>
            <p:cNvSpPr txBox="1"/>
            <p:nvPr/>
          </p:nvSpPr>
          <p:spPr>
            <a:xfrm>
              <a:off x="7895254" y="3676994"/>
              <a:ext cx="3653468" cy="1382274"/>
            </a:xfrm>
            <a:prstGeom prst="rect">
              <a:avLst/>
            </a:prstGeom>
          </p:spPr>
          <p:txBody>
            <a:bodyPr lIns="0" tIns="0" rIns="0" bIns="0" rtlCol="0" anchor="t">
              <a:spAutoFit/>
            </a:bodyPr>
            <a:lstStyle/>
            <a:p>
              <a:pPr algn="ctr">
                <a:lnSpc>
                  <a:spcPts val="4021"/>
                </a:lnSpc>
              </a:pPr>
              <a:r>
                <a:rPr lang="en-US" sz="2872" spc="-57">
                  <a:solidFill>
                    <a:srgbClr val="000000"/>
                  </a:solidFill>
                  <a:latin typeface="Jua"/>
                  <a:ea typeface="Jua"/>
                  <a:cs typeface="Jua"/>
                  <a:sym typeface="Jua"/>
                </a:rPr>
                <a:t>mengulang sebanyak nilai i</a:t>
              </a:r>
            </a:p>
          </p:txBody>
        </p:sp>
        <p:sp>
          <p:nvSpPr>
            <p:cNvPr id="14" name="TextBox 14"/>
            <p:cNvSpPr txBox="1"/>
            <p:nvPr/>
          </p:nvSpPr>
          <p:spPr>
            <a:xfrm>
              <a:off x="3151117" y="3705569"/>
              <a:ext cx="4453752" cy="1809314"/>
            </a:xfrm>
            <a:prstGeom prst="rect">
              <a:avLst/>
            </a:prstGeom>
          </p:spPr>
          <p:txBody>
            <a:bodyPr lIns="0" tIns="0" rIns="0" bIns="0" rtlCol="0" anchor="t">
              <a:spAutoFit/>
            </a:bodyPr>
            <a:lstStyle/>
            <a:p>
              <a:pPr algn="ctr">
                <a:lnSpc>
                  <a:spcPts val="3561"/>
                </a:lnSpc>
              </a:pPr>
              <a:r>
                <a:rPr lang="en-US" sz="2544" spc="-50">
                  <a:solidFill>
                    <a:srgbClr val="000000"/>
                  </a:solidFill>
                  <a:latin typeface="Jua"/>
                  <a:ea typeface="Jua"/>
                  <a:cs typeface="Jua"/>
                  <a:sym typeface="Jua"/>
                </a:rPr>
                <a:t>variabel untuk penghitung perulangan bintang</a:t>
              </a:r>
            </a:p>
          </p:txBody>
        </p:sp>
      </p:grpSp>
      <p:sp>
        <p:nvSpPr>
          <p:cNvPr id="15" name="Freeform 15"/>
          <p:cNvSpPr/>
          <p:nvPr/>
        </p:nvSpPr>
        <p:spPr>
          <a:xfrm rot="-5400000">
            <a:off x="14349970" y="7317940"/>
            <a:ext cx="1321539" cy="574870"/>
          </a:xfrm>
          <a:custGeom>
            <a:avLst/>
            <a:gdLst/>
            <a:ahLst/>
            <a:cxnLst/>
            <a:rect l="l" t="t" r="r" b="b"/>
            <a:pathLst>
              <a:path w="1321539" h="574870">
                <a:moveTo>
                  <a:pt x="0" y="0"/>
                </a:moveTo>
                <a:lnTo>
                  <a:pt x="1321539" y="0"/>
                </a:lnTo>
                <a:lnTo>
                  <a:pt x="1321539" y="574869"/>
                </a:lnTo>
                <a:lnTo>
                  <a:pt x="0" y="574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7480937" y="7676841"/>
            <a:ext cx="9504297" cy="676864"/>
          </a:xfrm>
          <a:custGeom>
            <a:avLst/>
            <a:gdLst/>
            <a:ahLst/>
            <a:cxnLst/>
            <a:rect l="l" t="t" r="r" b="b"/>
            <a:pathLst>
              <a:path w="9504297" h="676864">
                <a:moveTo>
                  <a:pt x="0" y="0"/>
                </a:moveTo>
                <a:lnTo>
                  <a:pt x="9504297" y="0"/>
                </a:lnTo>
                <a:lnTo>
                  <a:pt x="9504297" y="676864"/>
                </a:lnTo>
                <a:lnTo>
                  <a:pt x="0" y="676864"/>
                </a:lnTo>
                <a:lnTo>
                  <a:pt x="0" y="0"/>
                </a:lnTo>
                <a:close/>
              </a:path>
            </a:pathLst>
          </a:custGeom>
          <a:blipFill>
            <a:blip r:embed="rId7"/>
            <a:stretch>
              <a:fillRect/>
            </a:stretch>
          </a:blipFill>
        </p:spPr>
      </p:sp>
      <p:sp>
        <p:nvSpPr>
          <p:cNvPr id="17" name="TextBox 17"/>
          <p:cNvSpPr txBox="1"/>
          <p:nvPr/>
        </p:nvSpPr>
        <p:spPr>
          <a:xfrm>
            <a:off x="440484" y="984830"/>
            <a:ext cx="16544750" cy="1083502"/>
          </a:xfrm>
          <a:prstGeom prst="rect">
            <a:avLst/>
          </a:prstGeom>
        </p:spPr>
        <p:txBody>
          <a:bodyPr lIns="0" tIns="0" rIns="0" bIns="0" rtlCol="0" anchor="t">
            <a:spAutoFit/>
          </a:bodyPr>
          <a:lstStyle/>
          <a:p>
            <a:pPr algn="ctr">
              <a:lnSpc>
                <a:spcPts val="8382"/>
              </a:lnSpc>
            </a:pPr>
            <a:r>
              <a:rPr lang="en-US" sz="10746" dirty="0">
                <a:solidFill>
                  <a:srgbClr val="FFFFFF"/>
                </a:solidFill>
                <a:effectLst>
                  <a:innerShdw blurRad="114300">
                    <a:prstClr val="black"/>
                  </a:innerShdw>
                </a:effectLst>
                <a:latin typeface="Funtastic"/>
                <a:ea typeface="Funtastic"/>
                <a:cs typeface="Funtastic"/>
                <a:sym typeface="Funtastic"/>
              </a:rPr>
              <a:t>PENJELASAN PER-BARIS</a:t>
            </a:r>
          </a:p>
        </p:txBody>
      </p:sp>
      <p:sp>
        <p:nvSpPr>
          <p:cNvPr id="18" name="Freeform 18"/>
          <p:cNvSpPr/>
          <p:nvPr/>
        </p:nvSpPr>
        <p:spPr>
          <a:xfrm>
            <a:off x="15455075" y="1879668"/>
            <a:ext cx="2445250" cy="2445250"/>
          </a:xfrm>
          <a:custGeom>
            <a:avLst/>
            <a:gdLst/>
            <a:ahLst/>
            <a:cxnLst/>
            <a:rect l="l" t="t" r="r" b="b"/>
            <a:pathLst>
              <a:path w="2445250" h="2445250">
                <a:moveTo>
                  <a:pt x="0" y="0"/>
                </a:moveTo>
                <a:lnTo>
                  <a:pt x="2445251" y="0"/>
                </a:lnTo>
                <a:lnTo>
                  <a:pt x="2445251" y="2445251"/>
                </a:lnTo>
                <a:lnTo>
                  <a:pt x="0" y="2445251"/>
                </a:lnTo>
                <a:lnTo>
                  <a:pt x="0" y="0"/>
                </a:lnTo>
                <a:close/>
              </a:path>
            </a:pathLst>
          </a:custGeom>
          <a:blipFill>
            <a:blip r:embed="rId8"/>
            <a:stretch>
              <a:fillRect/>
            </a:stretch>
          </a:blipFill>
        </p:spPr>
      </p:sp>
      <p:sp>
        <p:nvSpPr>
          <p:cNvPr id="19" name="Freeform 19"/>
          <p:cNvSpPr/>
          <p:nvPr/>
        </p:nvSpPr>
        <p:spPr>
          <a:xfrm>
            <a:off x="0" y="6590563"/>
            <a:ext cx="2866046" cy="3448211"/>
          </a:xfrm>
          <a:custGeom>
            <a:avLst/>
            <a:gdLst/>
            <a:ahLst/>
            <a:cxnLst/>
            <a:rect l="l" t="t" r="r" b="b"/>
            <a:pathLst>
              <a:path w="2866046" h="3448211">
                <a:moveTo>
                  <a:pt x="0" y="0"/>
                </a:moveTo>
                <a:lnTo>
                  <a:pt x="2866046" y="0"/>
                </a:lnTo>
                <a:lnTo>
                  <a:pt x="2866046" y="3448211"/>
                </a:lnTo>
                <a:lnTo>
                  <a:pt x="0" y="3448211"/>
                </a:lnTo>
                <a:lnTo>
                  <a:pt x="0" y="0"/>
                </a:lnTo>
                <a:close/>
              </a:path>
            </a:pathLst>
          </a:custGeom>
          <a:blipFill>
            <a:blip r:embed="rId9"/>
            <a:stretch>
              <a:fillRect/>
            </a:stretch>
          </a:blipFill>
        </p:spPr>
      </p:sp>
      <p:sp>
        <p:nvSpPr>
          <p:cNvPr id="20" name="TextBox 20"/>
          <p:cNvSpPr txBox="1"/>
          <p:nvPr/>
        </p:nvSpPr>
        <p:spPr>
          <a:xfrm>
            <a:off x="9641393" y="5031605"/>
            <a:ext cx="2237545" cy="2000561"/>
          </a:xfrm>
          <a:prstGeom prst="rect">
            <a:avLst/>
          </a:prstGeom>
        </p:spPr>
        <p:txBody>
          <a:bodyPr lIns="0" tIns="0" rIns="0" bIns="0" rtlCol="0" anchor="t">
            <a:spAutoFit/>
          </a:bodyPr>
          <a:lstStyle/>
          <a:p>
            <a:pPr algn="ctr">
              <a:lnSpc>
                <a:spcPts val="3855"/>
              </a:lnSpc>
            </a:pPr>
            <a:r>
              <a:rPr lang="en-US" sz="2753" spc="-55">
                <a:solidFill>
                  <a:srgbClr val="000000"/>
                </a:solidFill>
                <a:latin typeface="Jua"/>
                <a:ea typeface="Jua"/>
                <a:cs typeface="Jua"/>
                <a:sym typeface="Jua"/>
              </a:rPr>
              <a:t>untuk menampilkan sesuatu di layar</a:t>
            </a:r>
          </a:p>
        </p:txBody>
      </p:sp>
      <p:sp>
        <p:nvSpPr>
          <p:cNvPr id="21" name="TextBox 21"/>
          <p:cNvSpPr txBox="1"/>
          <p:nvPr/>
        </p:nvSpPr>
        <p:spPr>
          <a:xfrm>
            <a:off x="11295557" y="9153525"/>
            <a:ext cx="3182443" cy="799450"/>
          </a:xfrm>
          <a:prstGeom prst="rect">
            <a:avLst/>
          </a:prstGeom>
        </p:spPr>
        <p:txBody>
          <a:bodyPr wrap="square" lIns="0" tIns="0" rIns="0" bIns="0" rtlCol="0" anchor="t">
            <a:spAutoFit/>
          </a:bodyPr>
          <a:lstStyle/>
          <a:p>
            <a:pPr algn="ctr">
              <a:lnSpc>
                <a:spcPts val="3345"/>
              </a:lnSpc>
            </a:pPr>
            <a:r>
              <a:rPr lang="en-US" sz="2389" spc="-47" dirty="0" err="1">
                <a:solidFill>
                  <a:srgbClr val="000000"/>
                </a:solidFill>
                <a:latin typeface="Jua"/>
                <a:ea typeface="Jua"/>
                <a:cs typeface="Jua"/>
                <a:sym typeface="Jua"/>
              </a:rPr>
              <a:t>simbol</a:t>
            </a:r>
            <a:r>
              <a:rPr lang="en-US" sz="2389" spc="-47" dirty="0">
                <a:solidFill>
                  <a:srgbClr val="000000"/>
                </a:solidFill>
                <a:latin typeface="Jua"/>
                <a:ea typeface="Jua"/>
                <a:cs typeface="Jua"/>
                <a:sym typeface="Jua"/>
              </a:rPr>
              <a:t>   </a:t>
            </a:r>
            <a:r>
              <a:rPr lang="en-US" sz="2389" spc="-47" dirty="0" err="1">
                <a:solidFill>
                  <a:srgbClr val="000000"/>
                </a:solidFill>
                <a:latin typeface="Jua"/>
                <a:ea typeface="Jua"/>
                <a:cs typeface="Jua"/>
                <a:sym typeface="Jua"/>
              </a:rPr>
              <a:t>bintang</a:t>
            </a:r>
            <a:r>
              <a:rPr lang="en-US" sz="2389" spc="-47" dirty="0">
                <a:solidFill>
                  <a:srgbClr val="000000"/>
                </a:solidFill>
                <a:latin typeface="Jua"/>
                <a:ea typeface="Jua"/>
                <a:cs typeface="Jua"/>
                <a:sym typeface="Jua"/>
              </a:rPr>
              <a:t> yang di </a:t>
            </a:r>
            <a:r>
              <a:rPr lang="en-US" sz="2389" spc="-47" dirty="0" err="1">
                <a:solidFill>
                  <a:srgbClr val="000000"/>
                </a:solidFill>
                <a:latin typeface="Jua"/>
                <a:ea typeface="Jua"/>
                <a:cs typeface="Jua"/>
                <a:sym typeface="Jua"/>
              </a:rPr>
              <a:t>tampilkan</a:t>
            </a:r>
            <a:endParaRPr lang="en-US" sz="2389" spc="-47" dirty="0">
              <a:solidFill>
                <a:srgbClr val="000000"/>
              </a:solidFill>
              <a:latin typeface="Jua"/>
              <a:ea typeface="Jua"/>
              <a:cs typeface="Jua"/>
              <a:sym typeface="Jua"/>
            </a:endParaRPr>
          </a:p>
        </p:txBody>
      </p:sp>
      <p:sp>
        <p:nvSpPr>
          <p:cNvPr id="22" name="TextBox 22"/>
          <p:cNvSpPr txBox="1"/>
          <p:nvPr/>
        </p:nvSpPr>
        <p:spPr>
          <a:xfrm>
            <a:off x="13300548" y="4419974"/>
            <a:ext cx="3333922" cy="2000561"/>
          </a:xfrm>
          <a:prstGeom prst="rect">
            <a:avLst/>
          </a:prstGeom>
        </p:spPr>
        <p:txBody>
          <a:bodyPr lIns="0" tIns="0" rIns="0" bIns="0" rtlCol="0" anchor="t">
            <a:spAutoFit/>
          </a:bodyPr>
          <a:lstStyle/>
          <a:p>
            <a:pPr algn="ctr">
              <a:lnSpc>
                <a:spcPts val="3855"/>
              </a:lnSpc>
            </a:pPr>
            <a:r>
              <a:rPr lang="en-US" sz="2753" spc="-55" dirty="0" err="1">
                <a:solidFill>
                  <a:srgbClr val="000000"/>
                </a:solidFill>
                <a:latin typeface="Jua"/>
                <a:ea typeface="Jua"/>
                <a:cs typeface="Jua"/>
                <a:sym typeface="Jua"/>
              </a:rPr>
              <a:t>membuat</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kursor</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tetap</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berada</a:t>
            </a:r>
            <a:r>
              <a:rPr lang="en-US" sz="2753" spc="-55" dirty="0">
                <a:solidFill>
                  <a:srgbClr val="000000"/>
                </a:solidFill>
                <a:latin typeface="Jua"/>
                <a:ea typeface="Jua"/>
                <a:cs typeface="Jua"/>
                <a:sym typeface="Jua"/>
              </a:rPr>
              <a:t> di baris yang </a:t>
            </a:r>
            <a:r>
              <a:rPr lang="en-US" sz="2753" spc="-55" dirty="0" err="1">
                <a:solidFill>
                  <a:srgbClr val="000000"/>
                </a:solidFill>
                <a:latin typeface="Jua"/>
                <a:ea typeface="Jua"/>
                <a:cs typeface="Jua"/>
                <a:sym typeface="Jua"/>
              </a:rPr>
              <a:t>sama</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setelah</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mencetak</a:t>
            </a:r>
            <a:r>
              <a:rPr lang="en-US" sz="2753" spc="-55" dirty="0">
                <a:solidFill>
                  <a:srgbClr val="000000"/>
                </a:solidFill>
                <a:latin typeface="Jua"/>
                <a:ea typeface="Jua"/>
                <a:cs typeface="Jua"/>
                <a:sym typeface="Jua"/>
              </a:rPr>
              <a:t> </a:t>
            </a:r>
            <a:r>
              <a:rPr lang="en-US" sz="2753" spc="-55" dirty="0" err="1">
                <a:solidFill>
                  <a:srgbClr val="000000"/>
                </a:solidFill>
                <a:latin typeface="Jua"/>
                <a:ea typeface="Jua"/>
                <a:cs typeface="Jua"/>
                <a:sym typeface="Jua"/>
              </a:rPr>
              <a:t>bintang</a:t>
            </a:r>
            <a:endParaRPr lang="en-US" sz="2753" spc="-55" dirty="0">
              <a:solidFill>
                <a:srgbClr val="000000"/>
              </a:solidFill>
              <a:latin typeface="Jua"/>
              <a:ea typeface="Jua"/>
              <a:cs typeface="Jua"/>
              <a:sym typeface="Jua"/>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rot="5400000">
            <a:off x="13327255" y="7515103"/>
            <a:ext cx="1436684" cy="624958"/>
          </a:xfrm>
          <a:custGeom>
            <a:avLst/>
            <a:gdLst/>
            <a:ahLst/>
            <a:cxnLst/>
            <a:rect l="l" t="t" r="r" b="b"/>
            <a:pathLst>
              <a:path w="1436684" h="624958">
                <a:moveTo>
                  <a:pt x="0" y="0"/>
                </a:moveTo>
                <a:lnTo>
                  <a:pt x="1436684" y="0"/>
                </a:lnTo>
                <a:lnTo>
                  <a:pt x="1436684" y="624957"/>
                </a:lnTo>
                <a:lnTo>
                  <a:pt x="0" y="6249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4096386" y="4657728"/>
            <a:ext cx="1336609" cy="581425"/>
          </a:xfrm>
          <a:custGeom>
            <a:avLst/>
            <a:gdLst/>
            <a:ahLst/>
            <a:cxnLst/>
            <a:rect l="l" t="t" r="r" b="b"/>
            <a:pathLst>
              <a:path w="1336609" h="581425">
                <a:moveTo>
                  <a:pt x="0" y="0"/>
                </a:moveTo>
                <a:lnTo>
                  <a:pt x="1336610" y="0"/>
                </a:lnTo>
                <a:lnTo>
                  <a:pt x="1336610" y="581425"/>
                </a:lnTo>
                <a:lnTo>
                  <a:pt x="0" y="5814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670547" y="4011827"/>
            <a:ext cx="9325087" cy="777091"/>
          </a:xfrm>
          <a:custGeom>
            <a:avLst/>
            <a:gdLst/>
            <a:ahLst/>
            <a:cxnLst/>
            <a:rect l="l" t="t" r="r" b="b"/>
            <a:pathLst>
              <a:path w="9325087" h="777091">
                <a:moveTo>
                  <a:pt x="0" y="0"/>
                </a:moveTo>
                <a:lnTo>
                  <a:pt x="9325087" y="0"/>
                </a:lnTo>
                <a:lnTo>
                  <a:pt x="9325087" y="777091"/>
                </a:lnTo>
                <a:lnTo>
                  <a:pt x="0" y="777091"/>
                </a:lnTo>
                <a:lnTo>
                  <a:pt x="0" y="0"/>
                </a:lnTo>
                <a:close/>
              </a:path>
            </a:pathLst>
          </a:custGeom>
          <a:blipFill>
            <a:blip r:embed="rId6"/>
            <a:stretch>
              <a:fillRect/>
            </a:stretch>
          </a:blipFill>
        </p:spPr>
      </p:sp>
      <p:sp>
        <p:nvSpPr>
          <p:cNvPr id="8" name="Freeform 8"/>
          <p:cNvSpPr/>
          <p:nvPr/>
        </p:nvSpPr>
        <p:spPr>
          <a:xfrm>
            <a:off x="8347173" y="6621968"/>
            <a:ext cx="9940827" cy="1170859"/>
          </a:xfrm>
          <a:custGeom>
            <a:avLst/>
            <a:gdLst/>
            <a:ahLst/>
            <a:cxnLst/>
            <a:rect l="l" t="t" r="r" b="b"/>
            <a:pathLst>
              <a:path w="9940827" h="1170859">
                <a:moveTo>
                  <a:pt x="0" y="0"/>
                </a:moveTo>
                <a:lnTo>
                  <a:pt x="9940827" y="0"/>
                </a:lnTo>
                <a:lnTo>
                  <a:pt x="9940827" y="1170859"/>
                </a:lnTo>
                <a:lnTo>
                  <a:pt x="0" y="1170859"/>
                </a:lnTo>
                <a:lnTo>
                  <a:pt x="0" y="0"/>
                </a:lnTo>
                <a:close/>
              </a:path>
            </a:pathLst>
          </a:custGeom>
          <a:blipFill>
            <a:blip r:embed="rId7"/>
            <a:stretch>
              <a:fillRect/>
            </a:stretch>
          </a:blipFill>
        </p:spPr>
      </p:sp>
      <p:sp>
        <p:nvSpPr>
          <p:cNvPr id="9" name="Freeform 9"/>
          <p:cNvSpPr/>
          <p:nvPr/>
        </p:nvSpPr>
        <p:spPr>
          <a:xfrm>
            <a:off x="440484" y="7109239"/>
            <a:ext cx="2358864" cy="2883056"/>
          </a:xfrm>
          <a:custGeom>
            <a:avLst/>
            <a:gdLst/>
            <a:ahLst/>
            <a:cxnLst/>
            <a:rect l="l" t="t" r="r" b="b"/>
            <a:pathLst>
              <a:path w="2358864" h="2883056">
                <a:moveTo>
                  <a:pt x="0" y="0"/>
                </a:moveTo>
                <a:lnTo>
                  <a:pt x="2358864" y="0"/>
                </a:lnTo>
                <a:lnTo>
                  <a:pt x="2358864" y="2883056"/>
                </a:lnTo>
                <a:lnTo>
                  <a:pt x="0" y="2883056"/>
                </a:lnTo>
                <a:lnTo>
                  <a:pt x="0" y="0"/>
                </a:lnTo>
                <a:close/>
              </a:path>
            </a:pathLst>
          </a:custGeom>
          <a:blipFill>
            <a:blip r:embed="rId8"/>
            <a:stretch>
              <a:fillRect/>
            </a:stretch>
          </a:blipFill>
        </p:spPr>
      </p:sp>
      <p:sp>
        <p:nvSpPr>
          <p:cNvPr id="10" name="Freeform 10"/>
          <p:cNvSpPr/>
          <p:nvPr/>
        </p:nvSpPr>
        <p:spPr>
          <a:xfrm>
            <a:off x="13174643" y="3280466"/>
            <a:ext cx="3810591" cy="3726068"/>
          </a:xfrm>
          <a:custGeom>
            <a:avLst/>
            <a:gdLst/>
            <a:ahLst/>
            <a:cxnLst/>
            <a:rect l="l" t="t" r="r" b="b"/>
            <a:pathLst>
              <a:path w="3810591" h="3726068">
                <a:moveTo>
                  <a:pt x="0" y="0"/>
                </a:moveTo>
                <a:lnTo>
                  <a:pt x="3810591" y="0"/>
                </a:lnTo>
                <a:lnTo>
                  <a:pt x="3810591" y="3726068"/>
                </a:lnTo>
                <a:lnTo>
                  <a:pt x="0" y="3726068"/>
                </a:lnTo>
                <a:lnTo>
                  <a:pt x="0" y="0"/>
                </a:lnTo>
                <a:close/>
              </a:path>
            </a:pathLst>
          </a:custGeom>
          <a:blipFill>
            <a:blip r:embed="rId9"/>
            <a:stretch>
              <a:fillRect/>
            </a:stretch>
          </a:blipFill>
        </p:spPr>
      </p:sp>
      <p:sp>
        <p:nvSpPr>
          <p:cNvPr id="11" name="TextBox 11"/>
          <p:cNvSpPr txBox="1"/>
          <p:nvPr/>
        </p:nvSpPr>
        <p:spPr>
          <a:xfrm>
            <a:off x="2256134" y="5511970"/>
            <a:ext cx="5017114" cy="1830854"/>
          </a:xfrm>
          <a:prstGeom prst="rect">
            <a:avLst/>
          </a:prstGeom>
        </p:spPr>
        <p:txBody>
          <a:bodyPr lIns="0" tIns="0" rIns="0" bIns="0" rtlCol="0" anchor="t">
            <a:spAutoFit/>
          </a:bodyPr>
          <a:lstStyle/>
          <a:p>
            <a:pPr algn="ctr">
              <a:lnSpc>
                <a:spcPts val="3561"/>
              </a:lnSpc>
            </a:pPr>
            <a:r>
              <a:rPr lang="en-US" sz="2544" spc="-50">
                <a:solidFill>
                  <a:srgbClr val="000000"/>
                </a:solidFill>
                <a:latin typeface="Jua"/>
                <a:ea typeface="Jua"/>
                <a:cs typeface="Jua"/>
                <a:sym typeface="Jua"/>
              </a:rPr>
              <a:t>komentar yang menjelaskan bahwa setelah bintang pada satu baris selesai dicetak, program akan berpindah ke baris berikutnya</a:t>
            </a:r>
          </a:p>
        </p:txBody>
      </p:sp>
      <p:sp>
        <p:nvSpPr>
          <p:cNvPr id="12" name="TextBox 12"/>
          <p:cNvSpPr txBox="1"/>
          <p:nvPr/>
        </p:nvSpPr>
        <p:spPr>
          <a:xfrm>
            <a:off x="440484" y="984830"/>
            <a:ext cx="16544750" cy="1083502"/>
          </a:xfrm>
          <a:prstGeom prst="rect">
            <a:avLst/>
          </a:prstGeom>
        </p:spPr>
        <p:txBody>
          <a:bodyPr lIns="0" tIns="0" rIns="0" bIns="0" rtlCol="0" anchor="t">
            <a:spAutoFit/>
          </a:bodyPr>
          <a:lstStyle/>
          <a:p>
            <a:pPr algn="ctr">
              <a:lnSpc>
                <a:spcPts val="8382"/>
              </a:lnSpc>
            </a:pPr>
            <a:r>
              <a:rPr lang="en-US" sz="10746" dirty="0">
                <a:solidFill>
                  <a:srgbClr val="FFFFFF"/>
                </a:solidFill>
                <a:effectLst>
                  <a:innerShdw blurRad="114300">
                    <a:prstClr val="black"/>
                  </a:innerShdw>
                </a:effectLst>
                <a:latin typeface="Funtastic"/>
                <a:ea typeface="Funtastic"/>
                <a:cs typeface="Funtastic"/>
                <a:sym typeface="Funtastic"/>
              </a:rPr>
              <a:t>PENJELASAN PER-BARIS</a:t>
            </a:r>
          </a:p>
        </p:txBody>
      </p:sp>
      <p:sp>
        <p:nvSpPr>
          <p:cNvPr id="13" name="TextBox 13"/>
          <p:cNvSpPr txBox="1"/>
          <p:nvPr/>
        </p:nvSpPr>
        <p:spPr>
          <a:xfrm>
            <a:off x="12579092" y="8765183"/>
            <a:ext cx="2879271" cy="1045728"/>
          </a:xfrm>
          <a:prstGeom prst="rect">
            <a:avLst/>
          </a:prstGeom>
        </p:spPr>
        <p:txBody>
          <a:bodyPr lIns="0" tIns="0" rIns="0" bIns="0" rtlCol="0" anchor="t">
            <a:spAutoFit/>
          </a:bodyPr>
          <a:lstStyle/>
          <a:p>
            <a:pPr algn="ctr">
              <a:lnSpc>
                <a:spcPts val="3951"/>
              </a:lnSpc>
            </a:pPr>
            <a:r>
              <a:rPr lang="en-US" sz="2822" spc="-56">
                <a:solidFill>
                  <a:srgbClr val="000000"/>
                </a:solidFill>
                <a:latin typeface="Jua"/>
                <a:ea typeface="Jua"/>
                <a:cs typeface="Jua"/>
                <a:sym typeface="Jua"/>
              </a:rPr>
              <a:t>untuk berpindah ke baris baru</a:t>
            </a:r>
          </a:p>
        </p:txBody>
      </p:sp>
      <p:sp>
        <p:nvSpPr>
          <p:cNvPr id="14" name="Freeform 14"/>
          <p:cNvSpPr/>
          <p:nvPr/>
        </p:nvSpPr>
        <p:spPr>
          <a:xfrm>
            <a:off x="15762609" y="1028700"/>
            <a:ext cx="2445250" cy="2445250"/>
          </a:xfrm>
          <a:custGeom>
            <a:avLst/>
            <a:gdLst/>
            <a:ahLst/>
            <a:cxnLst/>
            <a:rect l="l" t="t" r="r" b="b"/>
            <a:pathLst>
              <a:path w="2445250" h="2445250">
                <a:moveTo>
                  <a:pt x="0" y="0"/>
                </a:moveTo>
                <a:lnTo>
                  <a:pt x="2445250" y="0"/>
                </a:lnTo>
                <a:lnTo>
                  <a:pt x="2445250" y="2445250"/>
                </a:lnTo>
                <a:lnTo>
                  <a:pt x="0" y="2445250"/>
                </a:lnTo>
                <a:lnTo>
                  <a:pt x="0" y="0"/>
                </a:lnTo>
                <a:close/>
              </a:path>
            </a:pathLst>
          </a:custGeom>
          <a:blipFill>
            <a:blip r:embed="rId10"/>
            <a:stretch>
              <a:fillRect/>
            </a:stretch>
          </a:blipFill>
        </p:spPr>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1DB"/>
        </a:solidFill>
        <a:effectLst/>
      </p:bgPr>
    </p:bg>
    <p:spTree>
      <p:nvGrpSpPr>
        <p:cNvPr id="1" name=""/>
        <p:cNvGrpSpPr/>
        <p:nvPr/>
      </p:nvGrpSpPr>
      <p:grpSpPr>
        <a:xfrm>
          <a:off x="0" y="0"/>
          <a:ext cx="0" cy="0"/>
          <a:chOff x="0" y="0"/>
          <a:chExt cx="0" cy="0"/>
        </a:xfrm>
      </p:grpSpPr>
      <p:grpSp>
        <p:nvGrpSpPr>
          <p:cNvPr id="2" name="Group 2"/>
          <p:cNvGrpSpPr/>
          <p:nvPr/>
        </p:nvGrpSpPr>
        <p:grpSpPr>
          <a:xfrm>
            <a:off x="-1692693" y="-284738"/>
            <a:ext cx="21673387" cy="10856475"/>
            <a:chOff x="0" y="0"/>
            <a:chExt cx="28897849" cy="14475300"/>
          </a:xfrm>
        </p:grpSpPr>
        <p:sp>
          <p:nvSpPr>
            <p:cNvPr id="3" name="Freeform 3"/>
            <p:cNvSpPr/>
            <p:nvPr/>
          </p:nvSpPr>
          <p:spPr>
            <a:xfrm>
              <a:off x="0"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4" name="Freeform 4"/>
            <p:cNvSpPr/>
            <p:nvPr/>
          </p:nvSpPr>
          <p:spPr>
            <a:xfrm>
              <a:off x="14422549" y="0"/>
              <a:ext cx="14475300" cy="14475300"/>
            </a:xfrm>
            <a:custGeom>
              <a:avLst/>
              <a:gdLst/>
              <a:ahLst/>
              <a:cxnLst/>
              <a:rect l="l" t="t" r="r" b="b"/>
              <a:pathLst>
                <a:path w="14475300" h="14475300">
                  <a:moveTo>
                    <a:pt x="0" y="0"/>
                  </a:moveTo>
                  <a:lnTo>
                    <a:pt x="14475300" y="0"/>
                  </a:lnTo>
                  <a:lnTo>
                    <a:pt x="14475300" y="14475300"/>
                  </a:lnTo>
                  <a:lnTo>
                    <a:pt x="0" y="14475300"/>
                  </a:lnTo>
                  <a:lnTo>
                    <a:pt x="0" y="0"/>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1308" y="-29653"/>
            <a:ext cx="7493858" cy="10601391"/>
          </a:xfrm>
          <a:custGeom>
            <a:avLst/>
            <a:gdLst/>
            <a:ahLst/>
            <a:cxnLst/>
            <a:rect l="l" t="t" r="r" b="b"/>
            <a:pathLst>
              <a:path w="7493858" h="10601391">
                <a:moveTo>
                  <a:pt x="0" y="0"/>
                </a:moveTo>
                <a:lnTo>
                  <a:pt x="7493858" y="0"/>
                </a:lnTo>
                <a:lnTo>
                  <a:pt x="7493858" y="10601391"/>
                </a:lnTo>
                <a:lnTo>
                  <a:pt x="0" y="10601391"/>
                </a:lnTo>
                <a:lnTo>
                  <a:pt x="0" y="0"/>
                </a:lnTo>
                <a:close/>
              </a:path>
            </a:pathLst>
          </a:custGeom>
          <a:blipFill>
            <a:blip r:embed="rId4"/>
            <a:stretch>
              <a:fillRect/>
            </a:stretch>
          </a:blipFill>
        </p:spPr>
      </p:sp>
      <p:sp>
        <p:nvSpPr>
          <p:cNvPr id="6" name="Freeform 6"/>
          <p:cNvSpPr/>
          <p:nvPr/>
        </p:nvSpPr>
        <p:spPr>
          <a:xfrm>
            <a:off x="11415838" y="-29653"/>
            <a:ext cx="6872162" cy="10316653"/>
          </a:xfrm>
          <a:custGeom>
            <a:avLst/>
            <a:gdLst/>
            <a:ahLst/>
            <a:cxnLst/>
            <a:rect l="l" t="t" r="r" b="b"/>
            <a:pathLst>
              <a:path w="6872162" h="10316653">
                <a:moveTo>
                  <a:pt x="0" y="0"/>
                </a:moveTo>
                <a:lnTo>
                  <a:pt x="6872162" y="0"/>
                </a:lnTo>
                <a:lnTo>
                  <a:pt x="6872162" y="10316653"/>
                </a:lnTo>
                <a:lnTo>
                  <a:pt x="0" y="10316653"/>
                </a:lnTo>
                <a:lnTo>
                  <a:pt x="0" y="0"/>
                </a:lnTo>
                <a:close/>
              </a:path>
            </a:pathLst>
          </a:custGeom>
          <a:blipFill>
            <a:blip r:embed="rId5"/>
            <a:stretch>
              <a:fillRect l="-19"/>
            </a:stretch>
          </a:blipFill>
        </p:spPr>
      </p:sp>
      <p:sp>
        <p:nvSpPr>
          <p:cNvPr id="7" name="Freeform 7"/>
          <p:cNvSpPr/>
          <p:nvPr/>
        </p:nvSpPr>
        <p:spPr>
          <a:xfrm>
            <a:off x="8803069" y="6390386"/>
            <a:ext cx="1907368" cy="1907368"/>
          </a:xfrm>
          <a:custGeom>
            <a:avLst/>
            <a:gdLst/>
            <a:ahLst/>
            <a:cxnLst/>
            <a:rect l="l" t="t" r="r" b="b"/>
            <a:pathLst>
              <a:path w="1907368" h="1907368">
                <a:moveTo>
                  <a:pt x="0" y="0"/>
                </a:moveTo>
                <a:lnTo>
                  <a:pt x="1907368" y="0"/>
                </a:lnTo>
                <a:lnTo>
                  <a:pt x="1907368" y="1907369"/>
                </a:lnTo>
                <a:lnTo>
                  <a:pt x="0" y="1907369"/>
                </a:lnTo>
                <a:lnTo>
                  <a:pt x="0" y="0"/>
                </a:lnTo>
                <a:close/>
              </a:path>
            </a:pathLst>
          </a:custGeom>
          <a:blipFill>
            <a:blip r:embed="rId6"/>
            <a:stretch>
              <a:fillRect/>
            </a:stretch>
          </a:blipFill>
        </p:spPr>
      </p:sp>
      <p:sp>
        <p:nvSpPr>
          <p:cNvPr id="8" name="Freeform 8"/>
          <p:cNvSpPr/>
          <p:nvPr/>
        </p:nvSpPr>
        <p:spPr>
          <a:xfrm>
            <a:off x="6736428" y="3671440"/>
            <a:ext cx="5144401" cy="4244131"/>
          </a:xfrm>
          <a:custGeom>
            <a:avLst/>
            <a:gdLst/>
            <a:ahLst/>
            <a:cxnLst/>
            <a:rect l="l" t="t" r="r" b="b"/>
            <a:pathLst>
              <a:path w="5144401" h="4244131">
                <a:moveTo>
                  <a:pt x="0" y="0"/>
                </a:moveTo>
                <a:lnTo>
                  <a:pt x="5144400" y="0"/>
                </a:lnTo>
                <a:lnTo>
                  <a:pt x="5144400" y="4244130"/>
                </a:lnTo>
                <a:lnTo>
                  <a:pt x="0" y="42441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8560384" y="479967"/>
            <a:ext cx="1787620" cy="3452341"/>
          </a:xfrm>
          <a:custGeom>
            <a:avLst/>
            <a:gdLst/>
            <a:ahLst/>
            <a:cxnLst/>
            <a:rect l="l" t="t" r="r" b="b"/>
            <a:pathLst>
              <a:path w="1787620" h="3452341">
                <a:moveTo>
                  <a:pt x="0" y="0"/>
                </a:moveTo>
                <a:lnTo>
                  <a:pt x="1787620" y="0"/>
                </a:lnTo>
                <a:lnTo>
                  <a:pt x="1787620" y="3452341"/>
                </a:lnTo>
                <a:lnTo>
                  <a:pt x="0" y="3452341"/>
                </a:lnTo>
                <a:lnTo>
                  <a:pt x="0" y="0"/>
                </a:lnTo>
                <a:close/>
              </a:path>
            </a:pathLst>
          </a:custGeom>
          <a:blipFill>
            <a:blip r:embed="rId9"/>
            <a:stretch>
              <a:fillRect/>
            </a:stretch>
          </a:blipFill>
        </p:spPr>
      </p:sp>
    </p:spTree>
  </p:cSld>
  <p:clrMapOvr>
    <a:masterClrMapping/>
  </p:clrMapOvr>
  <p:transition>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534</Words>
  <Application>Microsoft Office PowerPoint</Application>
  <PresentationFormat>Custom</PresentationFormat>
  <Paragraphs>87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Poppins Bold</vt:lpstr>
      <vt:lpstr>Funtastic</vt:lpstr>
      <vt:lpstr>Calibri</vt:lpstr>
      <vt:lpstr>Jua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Nested Loop</dc:title>
  <cp:lastModifiedBy>Tiara Meyzhida</cp:lastModifiedBy>
  <cp:revision>2</cp:revision>
  <dcterms:created xsi:type="dcterms:W3CDTF">2006-08-16T00:00:00Z</dcterms:created>
  <dcterms:modified xsi:type="dcterms:W3CDTF">2026-10-14T03:35:10Z</dcterms:modified>
  <dc:identifier>DAHXx1SWETw</dc:identifier>
</cp:coreProperties>
</file>